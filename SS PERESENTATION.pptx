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024128"/>
            <a:ext cx="1024128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898C"/>
                </a:solidFill>
                <a:latin typeface="Aptos"/>
              </a:defRPr>
            </a:pPr>
            <a:r>
              <a:t>SIGNALS AND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241280" cy="1417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62F4F"/>
                </a:solidFill>
                <a:latin typeface="Aptos Display"/>
              </a:defRPr>
            </a:pPr>
            <a:r>
              <a:t>Basic Concepts and</a:t>
            </a:r>
          </a:p>
          <a:p>
            <a:pPr>
              <a:spcAft>
                <a:spcPts val="800"/>
              </a:spcAft>
              <a:defRPr sz="3400" b="0">
                <a:solidFill>
                  <a:srgbClr val="162F4F"/>
                </a:solidFill>
                <a:latin typeface="Aptos Display"/>
              </a:defRPr>
            </a:pPr>
            <a:r>
              <a:t>Real-World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552444"/>
            <a:ext cx="1143000" cy="64008"/>
          </a:xfrm>
          <a:prstGeom prst="rect">
            <a:avLst/>
          </a:prstGeom>
          <a:solidFill>
            <a:srgbClr val="1F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3584448"/>
            <a:ext cx="9875520" cy="82296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rPr dirty="0"/>
              <a:t>Presented by</a:t>
            </a:r>
          </a:p>
          <a:p>
            <a:pPr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rPr dirty="0" err="1"/>
              <a:t>Tirth</a:t>
            </a:r>
            <a:r>
              <a:rPr dirty="0"/>
              <a:t> Panchal (12502060601059)</a:t>
            </a:r>
          </a:p>
          <a:p>
            <a:pPr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rPr dirty="0" err="1"/>
              <a:t>Srujal</a:t>
            </a:r>
            <a:r>
              <a:rPr dirty="0"/>
              <a:t> Patel (12502060601058)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257800"/>
            <a:ext cx="9875520" cy="41148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966A0"/>
                </a:solidFill>
                <a:latin typeface="Aptos"/>
              </a:defRPr>
            </a:pPr>
            <a:r>
              <a:t>Guided by: Dr. Hitesh Shah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6172200"/>
            <a:ext cx="9875520" cy="2286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F6C77"/>
                </a:solidFill>
                <a:latin typeface="Aptos"/>
              </a:defRPr>
            </a:pPr>
            <a:r>
              <a:t>A concise introduction to continuous-time and discrete-time signals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F4F"/>
                </a:solidFill>
                <a:latin typeface="Aptos Display"/>
              </a:defRPr>
            </a:pPr>
            <a:r>
              <a:t>1. Basic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7"/>
                </a:solidFill>
                <a:latin typeface="Aptos"/>
              </a:defRPr>
            </a:pPr>
            <a:r>
              <a:t>SIGNALS AND SYSTEMS  •  BASIC CONCEPTS AND APPLICATIONS                                     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57800" cy="1874519"/>
          </a:xfrm>
          <a:prstGeom prst="roundRect">
            <a:avLst/>
          </a:prstGeom>
          <a:solidFill>
            <a:srgbClr val="F1F6FA"/>
          </a:solidFill>
          <a:ln>
            <a:solidFill>
              <a:srgbClr val="E1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7804" y="1216153"/>
            <a:ext cx="82296" cy="1874519"/>
          </a:xfrm>
          <a:prstGeom prst="rect">
            <a:avLst/>
          </a:prstGeom>
          <a:solidFill>
            <a:srgbClr val="29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399032"/>
            <a:ext cx="4846320" cy="3840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F4F"/>
                </a:solidFill>
                <a:latin typeface="Aptos"/>
              </a:defRPr>
            </a:pPr>
            <a:r>
              <a:t>What is a signal?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56232"/>
            <a:ext cx="4846320" cy="112471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63238"/>
                </a:solidFill>
                <a:latin typeface="Aptos"/>
              </a:defRPr>
            </a:pPr>
            <a:r>
              <a:rPr dirty="0"/>
              <a:t>A signal is a quantity that carries information and changes with time, space, or another independent variable.</a:t>
            </a:r>
          </a:p>
          <a:p>
            <a:pPr>
              <a:spcAft>
                <a:spcPts val="800"/>
              </a:spcAft>
              <a:defRPr sz="1600" b="0">
                <a:solidFill>
                  <a:srgbClr val="263238"/>
                </a:solidFill>
                <a:latin typeface="Aptos"/>
              </a:defRPr>
            </a:pPr>
            <a:r>
              <a:rPr dirty="0"/>
              <a:t>Examples: speech, temperature, ECG, and sensor readings.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257800" cy="1874519"/>
          </a:xfrm>
          <a:prstGeom prst="roundRect">
            <a:avLst/>
          </a:prstGeom>
          <a:solidFill>
            <a:srgbClr val="F1F6FA"/>
          </a:solidFill>
          <a:ln>
            <a:solidFill>
              <a:srgbClr val="E1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82296" cy="1874519"/>
          </a:xfrm>
          <a:prstGeom prst="rect">
            <a:avLst/>
          </a:prstGeom>
          <a:solidFill>
            <a:srgbClr val="1F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399032"/>
            <a:ext cx="4846320" cy="3840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F4F"/>
                </a:solidFill>
                <a:latin typeface="Aptos"/>
              </a:defRPr>
            </a:pPr>
            <a:r>
              <a:t>What is a system?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56232"/>
            <a:ext cx="4846320" cy="112471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63238"/>
                </a:solidFill>
                <a:latin typeface="Aptos"/>
              </a:defRPr>
            </a:pPr>
            <a:r>
              <a:t>A system processes an input signal to produce an output signal.</a:t>
            </a:r>
          </a:p>
          <a:p>
            <a:pPr>
              <a:spcAft>
                <a:spcPts val="800"/>
              </a:spcAft>
              <a:defRPr sz="1600" b="0">
                <a:solidFill>
                  <a:srgbClr val="263238"/>
                </a:solidFill>
                <a:latin typeface="Aptos"/>
              </a:defRPr>
            </a:pPr>
            <a:r>
              <a:t>Example: a filter takes a noisy audio signal as input and produces a clearer signal.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29000"/>
            <a:ext cx="5257800" cy="2057400"/>
          </a:xfrm>
          <a:prstGeom prst="roundRect">
            <a:avLst/>
          </a:prstGeom>
          <a:solidFill>
            <a:srgbClr val="F1F6FA"/>
          </a:solidFill>
          <a:ln>
            <a:solidFill>
              <a:srgbClr val="E1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429000"/>
            <a:ext cx="82296" cy="2057400"/>
          </a:xfrm>
          <a:prstGeom prst="rect">
            <a:avLst/>
          </a:prstGeom>
          <a:solidFill>
            <a:srgbClr val="29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593592"/>
            <a:ext cx="4846320" cy="3840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F4F"/>
                </a:solidFill>
                <a:latin typeface="Aptos"/>
              </a:defRPr>
            </a:pPr>
            <a:r>
              <a:rPr dirty="0"/>
              <a:t>Continuous-time signal — x(t)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50791"/>
            <a:ext cx="4846320" cy="130759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Defined at every instant of time.</a:t>
            </a:r>
          </a:p>
          <a:p>
            <a:pPr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Notation: x(t)</a:t>
            </a:r>
          </a:p>
          <a:p>
            <a:pPr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Example: the voltage from an analogue microphone.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29000"/>
            <a:ext cx="5257800" cy="2057400"/>
          </a:xfrm>
          <a:prstGeom prst="roundRect">
            <a:avLst/>
          </a:prstGeom>
          <a:solidFill>
            <a:srgbClr val="F1F6FA"/>
          </a:solidFill>
          <a:ln>
            <a:solidFill>
              <a:srgbClr val="E1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429000"/>
            <a:ext cx="82296" cy="2057400"/>
          </a:xfrm>
          <a:prstGeom prst="rect">
            <a:avLst/>
          </a:prstGeom>
          <a:solidFill>
            <a:srgbClr val="1F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593592"/>
            <a:ext cx="4846320" cy="3840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F4F"/>
                </a:solidFill>
                <a:latin typeface="Aptos"/>
              </a:defRPr>
            </a:pPr>
            <a:r>
              <a:t>Discrete-time signal — x[n]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050791"/>
            <a:ext cx="4846320" cy="130759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Defined only at separate sample instants, often obtained by sampling a continuous signal.</a:t>
            </a:r>
          </a:p>
          <a:p>
            <a:pPr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Notation: x[n]</a:t>
            </a:r>
          </a:p>
          <a:p>
            <a:pPr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Example: digital audio samples.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10698480" cy="3840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2F4F"/>
                </a:solidFill>
                <a:latin typeface="Aptos"/>
              </a:defRPr>
            </a:pPr>
            <a:r>
              <a:t>Key idea: signals represent information; systems transform that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F4F"/>
                </a:solidFill>
                <a:latin typeface="Aptos Display"/>
              </a:defRPr>
            </a:pPr>
            <a:r>
              <a:t>2. Examples: Continuous-Time and Discrete-Time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7"/>
                </a:solidFill>
                <a:latin typeface="Aptos"/>
              </a:defRPr>
            </a:pPr>
            <a:r>
              <a:t>SIGNALS AND SYSTEMS  •  BASIC CONCEPTS AND APPLICATIONS                                    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303520" cy="4297680"/>
          </a:xfrm>
          <a:prstGeom prst="roundRect">
            <a:avLst/>
          </a:prstGeom>
          <a:solidFill>
            <a:srgbClr val="F1F6FA"/>
          </a:solidFill>
          <a:ln>
            <a:solidFill>
              <a:srgbClr val="E1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82296" cy="4297680"/>
          </a:xfrm>
          <a:prstGeom prst="rect">
            <a:avLst/>
          </a:prstGeom>
          <a:solidFill>
            <a:srgbClr val="29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90472"/>
            <a:ext cx="4892040" cy="3840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F4F"/>
                </a:solidFill>
                <a:latin typeface="Aptos"/>
              </a:defRPr>
            </a:pPr>
            <a:r>
              <a:t>Example A — Continuous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4892040" cy="354787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63238"/>
                </a:solidFill>
                <a:latin typeface="Aptos"/>
              </a:defRPr>
            </a:pPr>
            <a:r>
              <a:t>Signal:</a:t>
            </a:r>
          </a:p>
          <a:p>
            <a:pPr>
              <a:spcAft>
                <a:spcPts val="800"/>
              </a:spcAft>
              <a:defRPr sz="1800" b="0">
                <a:solidFill>
                  <a:srgbClr val="263238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800" b="0">
                <a:solidFill>
                  <a:srgbClr val="263238"/>
                </a:solidFill>
                <a:latin typeface="Aptos"/>
              </a:defRPr>
            </a:pPr>
            <a:r>
              <a:t>x(t) = sin(2πt)</a:t>
            </a:r>
          </a:p>
          <a:p>
            <a:pPr>
              <a:spcAft>
                <a:spcPts val="800"/>
              </a:spcAft>
              <a:defRPr sz="1800" b="0">
                <a:solidFill>
                  <a:srgbClr val="263238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800" b="0">
                <a:solidFill>
                  <a:srgbClr val="263238"/>
                </a:solidFill>
                <a:latin typeface="Aptos"/>
              </a:defRPr>
            </a:pPr>
            <a:r>
              <a:t>At t = 0 s:</a:t>
            </a:r>
          </a:p>
          <a:p>
            <a:pPr>
              <a:spcAft>
                <a:spcPts val="800"/>
              </a:spcAft>
              <a:defRPr sz="1800" b="0">
                <a:solidFill>
                  <a:srgbClr val="263238"/>
                </a:solidFill>
                <a:latin typeface="Aptos"/>
              </a:defRPr>
            </a:pPr>
            <a:r>
              <a:t>x(0) = sin(0) = 0</a:t>
            </a:r>
          </a:p>
          <a:p>
            <a:pPr>
              <a:spcAft>
                <a:spcPts val="800"/>
              </a:spcAft>
              <a:defRPr sz="1800" b="0">
                <a:solidFill>
                  <a:srgbClr val="263238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800" b="0">
                <a:solidFill>
                  <a:srgbClr val="263238"/>
                </a:solidFill>
                <a:latin typeface="Aptos"/>
              </a:defRPr>
            </a:pPr>
            <a:r>
              <a:t>At t = 0.25 s:</a:t>
            </a:r>
          </a:p>
          <a:p>
            <a:pPr>
              <a:spcAft>
                <a:spcPts val="800"/>
              </a:spcAft>
              <a:defRPr sz="1800" b="0">
                <a:solidFill>
                  <a:srgbClr val="263238"/>
                </a:solidFill>
                <a:latin typeface="Aptos"/>
              </a:defRPr>
            </a:pPr>
            <a:r>
              <a:t>x(0.25) = sin(π/2) = 1</a:t>
            </a:r>
          </a:p>
          <a:p>
            <a:pPr>
              <a:spcAft>
                <a:spcPts val="800"/>
              </a:spcAft>
              <a:defRPr sz="1800" b="0">
                <a:solidFill>
                  <a:srgbClr val="263238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800" b="0">
                <a:solidFill>
                  <a:srgbClr val="263238"/>
                </a:solidFill>
                <a:latin typeface="Aptos"/>
              </a:defRPr>
            </a:pPr>
            <a:r>
              <a:t>The signal exists for every real value of 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03520" cy="4297680"/>
          </a:xfrm>
          <a:prstGeom prst="roundRect">
            <a:avLst/>
          </a:prstGeom>
          <a:solidFill>
            <a:srgbClr val="F1F6FA"/>
          </a:solidFill>
          <a:ln>
            <a:solidFill>
              <a:srgbClr val="E1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82296" cy="4297680"/>
          </a:xfrm>
          <a:prstGeom prst="rect">
            <a:avLst/>
          </a:prstGeom>
          <a:solidFill>
            <a:srgbClr val="1F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490472"/>
            <a:ext cx="4892040" cy="3840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F4F"/>
                </a:solidFill>
                <a:latin typeface="Aptos"/>
              </a:defRPr>
            </a:pPr>
            <a:r>
              <a:t>Example B — Discrete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47672"/>
            <a:ext cx="4892040" cy="354787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63238"/>
                </a:solidFill>
                <a:latin typeface="Aptos"/>
              </a:defRPr>
            </a:pPr>
            <a:r>
              <a:t>Signal:</a:t>
            </a:r>
          </a:p>
          <a:p>
            <a:pPr>
              <a:spcAft>
                <a:spcPts val="800"/>
              </a:spcAft>
              <a:defRPr sz="1800" b="0">
                <a:solidFill>
                  <a:srgbClr val="263238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800" b="0">
                <a:solidFill>
                  <a:srgbClr val="263238"/>
                </a:solidFill>
                <a:latin typeface="Aptos"/>
              </a:defRPr>
            </a:pPr>
            <a:r>
              <a:t>x[n] = sin(πn/2)</a:t>
            </a:r>
          </a:p>
          <a:p>
            <a:pPr>
              <a:spcAft>
                <a:spcPts val="800"/>
              </a:spcAft>
              <a:defRPr sz="1800" b="0">
                <a:solidFill>
                  <a:srgbClr val="263238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800" b="0">
                <a:solidFill>
                  <a:srgbClr val="263238"/>
                </a:solidFill>
                <a:latin typeface="Aptos"/>
              </a:defRPr>
            </a:pPr>
            <a:r>
              <a:t>For n = 0, 1, 2, 3, 4:</a:t>
            </a:r>
          </a:p>
          <a:p>
            <a:pPr>
              <a:spcAft>
                <a:spcPts val="800"/>
              </a:spcAft>
              <a:defRPr sz="1800" b="0">
                <a:solidFill>
                  <a:srgbClr val="263238"/>
                </a:solidFill>
                <a:latin typeface="Aptos"/>
              </a:defRPr>
            </a:pPr>
            <a:r>
              <a:t>x[n] = 0, 1, 0, −1, 0</a:t>
            </a:r>
          </a:p>
          <a:p>
            <a:pPr>
              <a:spcAft>
                <a:spcPts val="800"/>
              </a:spcAft>
              <a:defRPr sz="1800" b="0">
                <a:solidFill>
                  <a:srgbClr val="263238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800" b="0">
                <a:solidFill>
                  <a:srgbClr val="263238"/>
                </a:solidFill>
                <a:latin typeface="Aptos"/>
              </a:defRPr>
            </a:pPr>
            <a:r>
              <a:t>The signal is defined at integer sample indices 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992134"/>
            <a:ext cx="10515600" cy="3200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5F6C77"/>
                </a:solidFill>
                <a:latin typeface="Aptos"/>
              </a:defRPr>
            </a:pPr>
            <a:r>
              <a:rPr dirty="0"/>
              <a:t>Continuous time uses t; discrete time uses an integer index 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63769" y="-3567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F4F"/>
                </a:solidFill>
                <a:latin typeface="Aptos Display"/>
              </a:defRPr>
            </a:pPr>
            <a:r>
              <a:rPr dirty="0"/>
              <a:t>3. Practice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7"/>
                </a:solidFill>
                <a:latin typeface="Aptos"/>
              </a:defRPr>
            </a:pPr>
            <a:r>
              <a:t>SIGNALS AND SYSTEMS  •  BASIC CONCEPTS AND APPLICATIONS                                    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607040" cy="45720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F6C77"/>
                </a:solidFill>
                <a:latin typeface="Aptos"/>
              </a:defRPr>
            </a:pPr>
            <a:r>
              <a:t>Try solving these before checking the next slide.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0652760" cy="1051560"/>
          </a:xfrm>
          <a:prstGeom prst="roundRect">
            <a:avLst/>
          </a:prstGeom>
          <a:solidFill>
            <a:srgbClr val="F1F6FA"/>
          </a:solidFill>
          <a:ln>
            <a:solidFill>
              <a:srgbClr val="E1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82296" cy="1051560"/>
          </a:xfrm>
          <a:prstGeom prst="rect">
            <a:avLst/>
          </a:prstGeom>
          <a:solidFill>
            <a:srgbClr val="29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10241280" cy="332399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F4F"/>
                </a:solidFill>
                <a:latin typeface="Aptos"/>
              </a:defRPr>
            </a:pPr>
            <a:r>
              <a:rPr dirty="0"/>
              <a:t>Question 1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50592"/>
            <a:ext cx="10241280" cy="301751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If x(t) = 2t + 1, find x(3).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154680"/>
            <a:ext cx="10652760" cy="1051560"/>
          </a:xfrm>
          <a:prstGeom prst="roundRect">
            <a:avLst/>
          </a:prstGeom>
          <a:solidFill>
            <a:srgbClr val="F1F6FA"/>
          </a:solidFill>
          <a:ln>
            <a:solidFill>
              <a:srgbClr val="E1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3154680"/>
            <a:ext cx="82296" cy="1051560"/>
          </a:xfrm>
          <a:prstGeom prst="rect">
            <a:avLst/>
          </a:prstGeom>
          <a:solidFill>
            <a:srgbClr val="1F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319272"/>
            <a:ext cx="10241280" cy="332399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F4F"/>
                </a:solidFill>
                <a:latin typeface="Aptos"/>
              </a:defRPr>
            </a:pPr>
            <a:r>
              <a:rPr dirty="0"/>
              <a:t>Question </a:t>
            </a:r>
            <a:r>
              <a:rPr dirty="0" smtClean="0"/>
              <a:t>2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005840" y="3776472"/>
            <a:ext cx="10241280" cy="301751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If x[n] = n² − 1, find x[−2].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480560"/>
            <a:ext cx="10652760" cy="1051560"/>
          </a:xfrm>
          <a:prstGeom prst="roundRect">
            <a:avLst/>
          </a:prstGeom>
          <a:solidFill>
            <a:srgbClr val="F1F6FA"/>
          </a:solidFill>
          <a:ln>
            <a:solidFill>
              <a:srgbClr val="E1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4480560"/>
            <a:ext cx="82296" cy="1051560"/>
          </a:xfrm>
          <a:prstGeom prst="rect">
            <a:avLst/>
          </a:prstGeom>
          <a:solidFill>
            <a:srgbClr val="29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645152"/>
            <a:ext cx="10241280" cy="332399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F4F"/>
                </a:solidFill>
                <a:latin typeface="Aptos"/>
              </a:defRPr>
            </a:pPr>
            <a:r>
              <a:rPr dirty="0"/>
              <a:t>Question </a:t>
            </a:r>
            <a:r>
              <a:rPr dirty="0" smtClean="0"/>
              <a:t>3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1005840" y="5102352"/>
            <a:ext cx="10241280" cy="301751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For x(t) = cos(2πt), find x(0.5).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F4F"/>
                </a:solidFill>
                <a:latin typeface="Aptos Display"/>
              </a:defRPr>
            </a:pPr>
            <a:r>
              <a:t>4.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7"/>
                </a:solidFill>
                <a:latin typeface="Aptos"/>
              </a:defRPr>
            </a:pPr>
            <a:r>
              <a:t>SIGNALS AND SYSTEMS  •  BASIC CONCEPTS AND APPLICATIONS                                    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80160"/>
            <a:ext cx="10652760" cy="1234440"/>
          </a:xfrm>
          <a:prstGeom prst="roundRect">
            <a:avLst/>
          </a:prstGeom>
          <a:solidFill>
            <a:srgbClr val="F1F6FA"/>
          </a:solidFill>
          <a:ln>
            <a:solidFill>
              <a:srgbClr val="E1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280160"/>
            <a:ext cx="82296" cy="1234440"/>
          </a:xfrm>
          <a:prstGeom prst="rect">
            <a:avLst/>
          </a:prstGeom>
          <a:solidFill>
            <a:srgbClr val="29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444751"/>
            <a:ext cx="10241280" cy="3840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F4F"/>
                </a:solidFill>
                <a:latin typeface="Aptos"/>
              </a:defRPr>
            </a:pPr>
            <a:r>
              <a:t>Solution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01952"/>
            <a:ext cx="10241280" cy="48463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x(t) = 2t + 1; substitute t = 3:  x(3) = 2(3) + 1 = 7.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88920"/>
            <a:ext cx="10652760" cy="1234440"/>
          </a:xfrm>
          <a:prstGeom prst="roundRect">
            <a:avLst/>
          </a:prstGeom>
          <a:solidFill>
            <a:srgbClr val="F1F6FA"/>
          </a:solidFill>
          <a:ln>
            <a:solidFill>
              <a:srgbClr val="E1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82296" cy="1234440"/>
          </a:xfrm>
          <a:prstGeom prst="rect">
            <a:avLst/>
          </a:prstGeom>
          <a:solidFill>
            <a:srgbClr val="1F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953512"/>
            <a:ext cx="10241280" cy="3840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F4F"/>
                </a:solidFill>
                <a:latin typeface="Aptos"/>
              </a:defRPr>
            </a:pPr>
            <a:r>
              <a:t>Solution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10712"/>
            <a:ext cx="10241280" cy="48463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x[n] = n² − 1; substitute n = −2:  x[−2] = (−2)² − 1 = 4 − 1 = 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97680"/>
            <a:ext cx="10652760" cy="1234440"/>
          </a:xfrm>
          <a:prstGeom prst="roundRect">
            <a:avLst/>
          </a:prstGeom>
          <a:solidFill>
            <a:srgbClr val="F1F6FA"/>
          </a:solidFill>
          <a:ln>
            <a:solidFill>
              <a:srgbClr val="E1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4297680"/>
            <a:ext cx="82296" cy="1234440"/>
          </a:xfrm>
          <a:prstGeom prst="rect">
            <a:avLst/>
          </a:prstGeom>
          <a:solidFill>
            <a:srgbClr val="29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462272"/>
            <a:ext cx="10241280" cy="3840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F4F"/>
                </a:solidFill>
                <a:latin typeface="Aptos"/>
              </a:defRPr>
            </a:pPr>
            <a:r>
              <a:t>Solution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19472"/>
            <a:ext cx="10241280" cy="48463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63238"/>
                </a:solidFill>
                <a:latin typeface="Aptos"/>
              </a:defRPr>
            </a:pPr>
            <a:r>
              <a:t>x(t) = cos(2πt); substitute t = 0.5:  x(0.5) = cos(π) = −1.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843016"/>
            <a:ext cx="10332720" cy="270843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F6C77"/>
                </a:solidFill>
                <a:latin typeface="Aptos"/>
              </a:defRPr>
            </a:pPr>
            <a:r>
              <a:rPr lang="en-IN" dirty="0" smtClean="0"/>
              <a:t> 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F4F"/>
                </a:solidFill>
                <a:latin typeface="Aptos Display"/>
              </a:defRPr>
            </a:pPr>
            <a:r>
              <a:t>5. Real-World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7"/>
                </a:solidFill>
                <a:latin typeface="Aptos"/>
              </a:defRPr>
            </a:pPr>
            <a:r>
              <a:rPr dirty="0"/>
              <a:t>SIGNALS AND SYSTEMS  •  BASIC CONCEPTS AND APPLICATIONS                                    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3246120" cy="1600200"/>
          </a:xfrm>
          <a:prstGeom prst="roundRect">
            <a:avLst/>
          </a:prstGeom>
          <a:solidFill>
            <a:srgbClr val="F1F6FA"/>
          </a:solidFill>
          <a:ln>
            <a:solidFill>
              <a:srgbClr val="E1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80160"/>
            <a:ext cx="82296" cy="1600200"/>
          </a:xfrm>
          <a:prstGeom prst="rect">
            <a:avLst/>
          </a:prstGeom>
          <a:solidFill>
            <a:srgbClr val="29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44751"/>
            <a:ext cx="2834639" cy="3840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F4F"/>
                </a:solidFill>
                <a:latin typeface="Aptos"/>
              </a:defRPr>
            </a:pPr>
            <a:r>
              <a:t>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2834639" cy="85039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Mobile networks, Wi-Fi, radio, and data transmission use signals to carry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280160"/>
            <a:ext cx="3246120" cy="1600200"/>
          </a:xfrm>
          <a:prstGeom prst="roundRect">
            <a:avLst/>
          </a:prstGeom>
          <a:solidFill>
            <a:srgbClr val="F1F6FA"/>
          </a:solidFill>
          <a:ln>
            <a:solidFill>
              <a:srgbClr val="E1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0520" y="1280160"/>
            <a:ext cx="82296" cy="1600200"/>
          </a:xfrm>
          <a:prstGeom prst="rect">
            <a:avLst/>
          </a:prstGeom>
          <a:solidFill>
            <a:srgbClr val="1F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444751"/>
            <a:ext cx="2834639" cy="3840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F4F"/>
                </a:solidFill>
                <a:latin typeface="Aptos"/>
              </a:defRPr>
            </a:pPr>
            <a:r>
              <a:t>Audio and Speech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901952"/>
            <a:ext cx="2834639" cy="85039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Microphones, noise cancellation, voice assistants, and music processing analyse sound signals.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280160"/>
            <a:ext cx="3246120" cy="1600200"/>
          </a:xfrm>
          <a:prstGeom prst="roundRect">
            <a:avLst/>
          </a:prstGeom>
          <a:solidFill>
            <a:srgbClr val="F1F6FA"/>
          </a:solidFill>
          <a:ln>
            <a:solidFill>
              <a:srgbClr val="E1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1280160"/>
            <a:ext cx="82296" cy="1600200"/>
          </a:xfrm>
          <a:prstGeom prst="rect">
            <a:avLst/>
          </a:prstGeom>
          <a:solidFill>
            <a:srgbClr val="29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1444751"/>
            <a:ext cx="2834639" cy="3840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F4F"/>
                </a:solidFill>
                <a:latin typeface="Aptos"/>
              </a:defRPr>
            </a:pPr>
            <a:r>
              <a:t>Medical Electronics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901952"/>
            <a:ext cx="2834639" cy="85039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ECG and EEG systems measure body signals to help monitor heart and brain activity.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46120"/>
            <a:ext cx="3246120" cy="1600200"/>
          </a:xfrm>
          <a:prstGeom prst="roundRect">
            <a:avLst/>
          </a:prstGeom>
          <a:solidFill>
            <a:srgbClr val="F1F6FA"/>
          </a:solidFill>
          <a:ln>
            <a:solidFill>
              <a:srgbClr val="E1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246120"/>
            <a:ext cx="82296" cy="1600200"/>
          </a:xfrm>
          <a:prstGeom prst="rect">
            <a:avLst/>
          </a:prstGeom>
          <a:solidFill>
            <a:srgbClr val="1F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410712"/>
            <a:ext cx="2834639" cy="3840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F4F"/>
                </a:solidFill>
                <a:latin typeface="Aptos"/>
              </a:defRPr>
            </a:pPr>
            <a:r>
              <a:t>Image and 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67911"/>
            <a:ext cx="2834639" cy="85039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Digital cameras, image enhancement, compression, and video streaming process sampled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246120"/>
            <a:ext cx="3246120" cy="1600200"/>
          </a:xfrm>
          <a:prstGeom prst="roundRect">
            <a:avLst/>
          </a:prstGeom>
          <a:solidFill>
            <a:srgbClr val="F1F6FA"/>
          </a:solidFill>
          <a:ln>
            <a:solidFill>
              <a:srgbClr val="E1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60520" y="3246120"/>
            <a:ext cx="82296" cy="1600200"/>
          </a:xfrm>
          <a:prstGeom prst="rect">
            <a:avLst/>
          </a:prstGeom>
          <a:solidFill>
            <a:srgbClr val="29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3410712"/>
            <a:ext cx="2834639" cy="3840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F4F"/>
                </a:solidFill>
                <a:latin typeface="Aptos"/>
              </a:defRPr>
            </a:pPr>
            <a:r>
              <a:t>Control and Robotics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867911"/>
            <a:ext cx="2834639" cy="85039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Sensors provide signals for motor control, line-following robots, and automation.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3246120"/>
            <a:ext cx="3246120" cy="1600200"/>
          </a:xfrm>
          <a:prstGeom prst="roundRect">
            <a:avLst/>
          </a:prstGeom>
          <a:solidFill>
            <a:srgbClr val="F1F6FA"/>
          </a:solidFill>
          <a:ln>
            <a:solidFill>
              <a:srgbClr val="E1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635240" y="3246120"/>
            <a:ext cx="82296" cy="1600200"/>
          </a:xfrm>
          <a:prstGeom prst="rect">
            <a:avLst/>
          </a:prstGeom>
          <a:solidFill>
            <a:srgbClr val="1F8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0" y="3410712"/>
            <a:ext cx="2834639" cy="384048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62F4F"/>
                </a:solidFill>
                <a:latin typeface="Aptos"/>
              </a:defRPr>
            </a:pPr>
            <a:r>
              <a:t>Industry and IoT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867911"/>
            <a:ext cx="2834639" cy="850392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63238"/>
                </a:solidFill>
                <a:latin typeface="Aptos"/>
              </a:defRPr>
            </a:pPr>
            <a:r>
              <a:t>Temperature, pressure, and vibration signals help monitor machines and detect faults.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49240"/>
            <a:ext cx="10698480" cy="54864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62F4F"/>
                </a:solidFill>
                <a:latin typeface="Aptos"/>
              </a:defRPr>
            </a:pPr>
            <a:r>
              <a:t>Conclusion: understanding signals and systems helps us measure, transmit, analyse, and control real-world information.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943600"/>
            <a:ext cx="10698480" cy="274320"/>
          </a:xfrm>
          <a:prstGeom prst="rect">
            <a:avLst/>
          </a:prstGeom>
          <a:noFill/>
        </p:spPr>
        <p:txBody>
          <a:bodyPr wrap="square" lIns="54864" tIns="36576" rIns="54864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898C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601</Words>
  <Application>Microsoft Office PowerPoint</Application>
  <PresentationFormat>Widescreen</PresentationFormat>
  <Paragraphs>83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student</dc:creator>
  <cp:keywords/>
  <dc:description>generated using python-pptx</dc:description>
  <cp:lastModifiedBy>student</cp:lastModifiedBy>
  <cp:revision>3</cp:revision>
  <dcterms:created xsi:type="dcterms:W3CDTF">2013-01-27T09:14:16Z</dcterms:created>
  <dcterms:modified xsi:type="dcterms:W3CDTF">2026-10-23T05:05:33Z</dcterms:modified>
  <cp:category/>
</cp:coreProperties>
</file>