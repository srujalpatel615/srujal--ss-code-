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60" r:id="rId4"/>
    <p:sldId id="257" r:id="rId5"/>
    <p:sldId id="258" r:id="rId6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850" y="-403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ujal Patel" userId="881b1066dc339a50" providerId="LiveId" clId="{18F9627B-55B8-4A1F-98D0-41252A8BE999}"/>
    <pc:docChg chg="undo custSel modSld">
      <pc:chgData name="Srujal Patel" userId="881b1066dc339a50" providerId="LiveId" clId="{18F9627B-55B8-4A1F-98D0-41252A8BE999}" dt="2026-10-25T12:24:13.806" v="21" actId="20577"/>
      <pc:docMkLst>
        <pc:docMk/>
      </pc:docMkLst>
      <pc:sldChg chg="modSp mod">
        <pc:chgData name="Srujal Patel" userId="881b1066dc339a50" providerId="LiveId" clId="{18F9627B-55B8-4A1F-98D0-41252A8BE999}" dt="2026-10-25T12:24:07.530" v="19" actId="1440"/>
        <pc:sldMkLst>
          <pc:docMk/>
          <pc:sldMk cId="0" sldId="257"/>
        </pc:sldMkLst>
        <pc:picChg chg="mod">
          <ac:chgData name="Srujal Patel" userId="881b1066dc339a50" providerId="LiveId" clId="{18F9627B-55B8-4A1F-98D0-41252A8BE999}" dt="2026-10-25T12:24:07.530" v="19" actId="1440"/>
          <ac:picMkLst>
            <pc:docMk/>
            <pc:sldMk cId="0" sldId="257"/>
            <ac:picMk id="3" creationId="{00000000-0000-0000-0000-000000000000}"/>
          </ac:picMkLst>
        </pc:picChg>
      </pc:sldChg>
      <pc:sldChg chg="modSp mod">
        <pc:chgData name="Srujal Patel" userId="881b1066dc339a50" providerId="LiveId" clId="{18F9627B-55B8-4A1F-98D0-41252A8BE999}" dt="2026-10-25T12:24:13.806" v="21" actId="20577"/>
        <pc:sldMkLst>
          <pc:docMk/>
          <pc:sldMk cId="0" sldId="258"/>
        </pc:sldMkLst>
        <pc:spChg chg="mod">
          <ac:chgData name="Srujal Patel" userId="881b1066dc339a50" providerId="LiveId" clId="{18F9627B-55B8-4A1F-98D0-41252A8BE999}" dt="2026-10-25T12:24:13.806" v="21" actId="20577"/>
          <ac:spMkLst>
            <pc:docMk/>
            <pc:sldMk cId="0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26477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Z-Transform</a:t>
            </a:r>
            <a:r>
              <a:rPr spc="-15" dirty="0"/>
              <a:t> </a:t>
            </a:r>
            <a:r>
              <a:rPr dirty="0"/>
              <a:t>and</a:t>
            </a:r>
            <a:r>
              <a:rPr spc="-10" dirty="0"/>
              <a:t> Pole-</a:t>
            </a:r>
            <a:r>
              <a:rPr dirty="0"/>
              <a:t>Zero</a:t>
            </a:r>
            <a:r>
              <a:rPr spc="-15" dirty="0"/>
              <a:t> </a:t>
            </a:r>
            <a:r>
              <a:rPr dirty="0"/>
              <a:t>Analysis</a:t>
            </a:r>
            <a:r>
              <a:rPr spc="-10" dirty="0"/>
              <a:t> </a:t>
            </a:r>
            <a:r>
              <a:rPr dirty="0"/>
              <a:t>—</a:t>
            </a:r>
            <a:r>
              <a:rPr spc="-15" dirty="0"/>
              <a:t> </a:t>
            </a:r>
            <a:r>
              <a:rPr dirty="0"/>
              <a:t>MATLAB</a:t>
            </a:r>
            <a:r>
              <a:rPr spc="-10" dirty="0"/>
              <a:t> Report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26477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40" dirty="0"/>
              <a:t> 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26477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Z-Transform</a:t>
            </a:r>
            <a:r>
              <a:rPr spc="-15" dirty="0"/>
              <a:t> </a:t>
            </a:r>
            <a:r>
              <a:rPr dirty="0"/>
              <a:t>and</a:t>
            </a:r>
            <a:r>
              <a:rPr spc="-10" dirty="0"/>
              <a:t> Pole-</a:t>
            </a:r>
            <a:r>
              <a:rPr dirty="0"/>
              <a:t>Zero</a:t>
            </a:r>
            <a:r>
              <a:rPr spc="-15" dirty="0"/>
              <a:t> </a:t>
            </a:r>
            <a:r>
              <a:rPr dirty="0"/>
              <a:t>Analysis</a:t>
            </a:r>
            <a:r>
              <a:rPr spc="-10" dirty="0"/>
              <a:t> </a:t>
            </a:r>
            <a:r>
              <a:rPr dirty="0"/>
              <a:t>—</a:t>
            </a:r>
            <a:r>
              <a:rPr spc="-15" dirty="0"/>
              <a:t> </a:t>
            </a:r>
            <a:r>
              <a:rPr dirty="0"/>
              <a:t>MATLAB</a:t>
            </a:r>
            <a:r>
              <a:rPr spc="-10" dirty="0"/>
              <a:t> Report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26477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40" dirty="0"/>
              <a:t> 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26477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Z-Transform</a:t>
            </a:r>
            <a:r>
              <a:rPr spc="-15" dirty="0"/>
              <a:t> </a:t>
            </a:r>
            <a:r>
              <a:rPr dirty="0"/>
              <a:t>and</a:t>
            </a:r>
            <a:r>
              <a:rPr spc="-10" dirty="0"/>
              <a:t> Pole-</a:t>
            </a:r>
            <a:r>
              <a:rPr dirty="0"/>
              <a:t>Zero</a:t>
            </a:r>
            <a:r>
              <a:rPr spc="-15" dirty="0"/>
              <a:t> </a:t>
            </a:r>
            <a:r>
              <a:rPr dirty="0"/>
              <a:t>Analysis</a:t>
            </a:r>
            <a:r>
              <a:rPr spc="-10" dirty="0"/>
              <a:t> </a:t>
            </a:r>
            <a:r>
              <a:rPr dirty="0"/>
              <a:t>—</a:t>
            </a:r>
            <a:r>
              <a:rPr spc="-15" dirty="0"/>
              <a:t> </a:t>
            </a:r>
            <a:r>
              <a:rPr dirty="0"/>
              <a:t>MATLAB</a:t>
            </a:r>
            <a:r>
              <a:rPr spc="-10" dirty="0"/>
              <a:t> Report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26477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40" dirty="0"/>
              <a:t> 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26477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Z-Transform</a:t>
            </a:r>
            <a:r>
              <a:rPr spc="-15" dirty="0"/>
              <a:t> </a:t>
            </a:r>
            <a:r>
              <a:rPr dirty="0"/>
              <a:t>and</a:t>
            </a:r>
            <a:r>
              <a:rPr spc="-10" dirty="0"/>
              <a:t> Pole-</a:t>
            </a:r>
            <a:r>
              <a:rPr dirty="0"/>
              <a:t>Zero</a:t>
            </a:r>
            <a:r>
              <a:rPr spc="-15" dirty="0"/>
              <a:t> </a:t>
            </a:r>
            <a:r>
              <a:rPr dirty="0"/>
              <a:t>Analysis</a:t>
            </a:r>
            <a:r>
              <a:rPr spc="-10" dirty="0"/>
              <a:t> </a:t>
            </a:r>
            <a:r>
              <a:rPr dirty="0"/>
              <a:t>—</a:t>
            </a:r>
            <a:r>
              <a:rPr spc="-15" dirty="0"/>
              <a:t> </a:t>
            </a:r>
            <a:r>
              <a:rPr dirty="0"/>
              <a:t>MATLAB</a:t>
            </a:r>
            <a:r>
              <a:rPr spc="-10" dirty="0"/>
              <a:t> Report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26477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40" dirty="0"/>
              <a:t> 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26477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Z-Transform</a:t>
            </a:r>
            <a:r>
              <a:rPr spc="-15" dirty="0"/>
              <a:t> </a:t>
            </a:r>
            <a:r>
              <a:rPr dirty="0"/>
              <a:t>and</a:t>
            </a:r>
            <a:r>
              <a:rPr spc="-10" dirty="0"/>
              <a:t> Pole-</a:t>
            </a:r>
            <a:r>
              <a:rPr dirty="0"/>
              <a:t>Zero</a:t>
            </a:r>
            <a:r>
              <a:rPr spc="-15" dirty="0"/>
              <a:t> </a:t>
            </a:r>
            <a:r>
              <a:rPr dirty="0"/>
              <a:t>Analysis</a:t>
            </a:r>
            <a:r>
              <a:rPr spc="-10" dirty="0"/>
              <a:t> </a:t>
            </a:r>
            <a:r>
              <a:rPr dirty="0"/>
              <a:t>—</a:t>
            </a:r>
            <a:r>
              <a:rPr spc="-15" dirty="0"/>
              <a:t> </a:t>
            </a:r>
            <a:r>
              <a:rPr dirty="0"/>
              <a:t>MATLAB</a:t>
            </a:r>
            <a:r>
              <a:rPr spc="-10" dirty="0"/>
              <a:t> Report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26477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40" dirty="0"/>
              <a:t> 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33400" y="10247500"/>
            <a:ext cx="6493510" cy="0"/>
          </a:xfrm>
          <a:custGeom>
            <a:avLst/>
            <a:gdLst/>
            <a:ahLst/>
            <a:cxnLst/>
            <a:rect l="l" t="t" r="r" b="b"/>
            <a:pathLst>
              <a:path w="6493509">
                <a:moveTo>
                  <a:pt x="0" y="0"/>
                </a:moveTo>
                <a:lnTo>
                  <a:pt x="6493200" y="0"/>
                </a:lnTo>
              </a:path>
            </a:pathLst>
          </a:custGeom>
          <a:ln w="12700">
            <a:solidFill>
              <a:srgbClr val="B8C6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20700" y="10307924"/>
            <a:ext cx="2560955" cy="139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526477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Z-Transform</a:t>
            </a:r>
            <a:r>
              <a:rPr spc="-15" dirty="0"/>
              <a:t> </a:t>
            </a:r>
            <a:r>
              <a:rPr dirty="0"/>
              <a:t>and</a:t>
            </a:r>
            <a:r>
              <a:rPr spc="-10" dirty="0"/>
              <a:t> Pole-</a:t>
            </a:r>
            <a:r>
              <a:rPr dirty="0"/>
              <a:t>Zero</a:t>
            </a:r>
            <a:r>
              <a:rPr spc="-15" dirty="0"/>
              <a:t> </a:t>
            </a:r>
            <a:r>
              <a:rPr dirty="0"/>
              <a:t>Analysis</a:t>
            </a:r>
            <a:r>
              <a:rPr spc="-10" dirty="0"/>
              <a:t> </a:t>
            </a:r>
            <a:r>
              <a:rPr dirty="0"/>
              <a:t>—</a:t>
            </a:r>
            <a:r>
              <a:rPr spc="-15" dirty="0"/>
              <a:t> </a:t>
            </a:r>
            <a:r>
              <a:rPr dirty="0"/>
              <a:t>MATLAB</a:t>
            </a:r>
            <a:r>
              <a:rPr spc="-10" dirty="0"/>
              <a:t> Report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691929" y="10307924"/>
            <a:ext cx="462279" cy="139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526477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40" dirty="0"/>
              <a:t> 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2106" y="812800"/>
            <a:ext cx="5415915" cy="632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16365D"/>
                </a:solidFill>
                <a:latin typeface="Arial"/>
                <a:cs typeface="Arial"/>
              </a:rPr>
              <a:t>Z-</a:t>
            </a:r>
            <a:r>
              <a:rPr sz="2000" b="1" dirty="0">
                <a:solidFill>
                  <a:srgbClr val="16365D"/>
                </a:solidFill>
                <a:latin typeface="Arial"/>
                <a:cs typeface="Arial"/>
              </a:rPr>
              <a:t>TRANSFORM</a:t>
            </a:r>
            <a:r>
              <a:rPr sz="2000" b="1" spc="-65" dirty="0">
                <a:solidFill>
                  <a:srgbClr val="16365D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16365D"/>
                </a:solidFill>
                <a:latin typeface="Arial"/>
                <a:cs typeface="Arial"/>
              </a:rPr>
              <a:t>AND</a:t>
            </a:r>
            <a:r>
              <a:rPr sz="2000" b="1" spc="-60" dirty="0">
                <a:solidFill>
                  <a:srgbClr val="16365D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16365D"/>
                </a:solidFill>
                <a:latin typeface="Arial"/>
                <a:cs typeface="Arial"/>
              </a:rPr>
              <a:t>POLE-</a:t>
            </a:r>
            <a:r>
              <a:rPr sz="2000" b="1" dirty="0">
                <a:solidFill>
                  <a:srgbClr val="16365D"/>
                </a:solidFill>
                <a:latin typeface="Arial"/>
                <a:cs typeface="Arial"/>
              </a:rPr>
              <a:t>ZERO</a:t>
            </a:r>
            <a:r>
              <a:rPr sz="2000" b="1" spc="-65" dirty="0">
                <a:solidFill>
                  <a:srgbClr val="16365D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16365D"/>
                </a:solidFill>
                <a:latin typeface="Arial"/>
                <a:cs typeface="Arial"/>
              </a:rPr>
              <a:t>ANALYSIS</a:t>
            </a:r>
            <a:endParaRPr sz="20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300"/>
              </a:spcBef>
            </a:pPr>
            <a:r>
              <a:rPr lang="en-US" sz="900" dirty="0">
                <a:latin typeface="Arial"/>
                <a:cs typeface="Arial"/>
              </a:rPr>
              <a:t> 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6280" y="1956506"/>
            <a:ext cx="6123940" cy="46581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3520" algn="l"/>
              </a:tabLst>
            </a:pPr>
            <a:r>
              <a:rPr sz="1500" b="1" dirty="0">
                <a:solidFill>
                  <a:srgbClr val="16365D"/>
                </a:solidFill>
                <a:latin typeface="Arial"/>
                <a:cs typeface="Arial"/>
              </a:rPr>
              <a:t>Problem </a:t>
            </a:r>
            <a:r>
              <a:rPr sz="1500" b="1" spc="-10" dirty="0">
                <a:solidFill>
                  <a:srgbClr val="16365D"/>
                </a:solidFill>
                <a:latin typeface="Arial"/>
                <a:cs typeface="Arial"/>
              </a:rPr>
              <a:t>Statement</a:t>
            </a:r>
            <a:endParaRPr sz="1500" dirty="0">
              <a:latin typeface="Arial"/>
              <a:cs typeface="Arial"/>
            </a:endParaRPr>
          </a:p>
          <a:p>
            <a:pPr marL="12700" marR="9525">
              <a:lnSpc>
                <a:spcPct val="120400"/>
              </a:lnSpc>
              <a:spcBef>
                <a:spcPts val="910"/>
              </a:spcBef>
            </a:pPr>
            <a:r>
              <a:rPr sz="1200" dirty="0">
                <a:latin typeface="Arial"/>
                <a:cs typeface="Arial"/>
              </a:rPr>
              <a:t>To</a:t>
            </a:r>
            <a:r>
              <a:rPr sz="1200" spc="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write</a:t>
            </a:r>
            <a:r>
              <a:rPr sz="1200" spc="6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6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execute</a:t>
            </a:r>
            <a:r>
              <a:rPr sz="1200" spc="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6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MATLAB</a:t>
            </a:r>
            <a:r>
              <a:rPr sz="1200" spc="6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program</a:t>
            </a:r>
            <a:r>
              <a:rPr sz="1200" spc="6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that</a:t>
            </a:r>
            <a:r>
              <a:rPr sz="1200" spc="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defines</a:t>
            </a:r>
            <a:r>
              <a:rPr sz="1200" spc="6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6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rational</a:t>
            </a:r>
            <a:r>
              <a:rPr sz="1200" spc="6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Z-transform</a:t>
            </a:r>
            <a:r>
              <a:rPr sz="1200" spc="5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X(z)</a:t>
            </a:r>
            <a:r>
              <a:rPr sz="1200" b="1" spc="6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=</a:t>
            </a:r>
            <a:r>
              <a:rPr sz="1200" b="1" spc="6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z²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/</a:t>
            </a:r>
            <a:r>
              <a:rPr sz="1200" b="1" spc="6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[(z</a:t>
            </a:r>
            <a:r>
              <a:rPr sz="1200" b="1" spc="60" dirty="0">
                <a:latin typeface="Arial"/>
                <a:cs typeface="Arial"/>
              </a:rPr>
              <a:t> </a:t>
            </a:r>
            <a:r>
              <a:rPr sz="1200" dirty="0">
                <a:latin typeface="Symbol"/>
                <a:cs typeface="Symbol"/>
              </a:rPr>
              <a:t>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Arial"/>
                <a:cs typeface="Arial"/>
              </a:rPr>
              <a:t>2)(z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dirty="0">
                <a:latin typeface="Symbol"/>
                <a:cs typeface="Symbol"/>
              </a:rPr>
              <a:t>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Arial"/>
                <a:cs typeface="Arial"/>
              </a:rPr>
              <a:t>3)]</a:t>
            </a:r>
            <a:r>
              <a:rPr sz="1200" dirty="0">
                <a:latin typeface="Arial"/>
                <a:cs typeface="Arial"/>
              </a:rPr>
              <a:t>,</a:t>
            </a:r>
            <a:r>
              <a:rPr sz="1200" spc="6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displays</a:t>
            </a:r>
            <a:r>
              <a:rPr sz="1200" spc="6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the </a:t>
            </a:r>
            <a:r>
              <a:rPr sz="1200" dirty="0">
                <a:latin typeface="Arial"/>
                <a:cs typeface="Arial"/>
              </a:rPr>
              <a:t>expression,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calculates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its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zeros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poles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symbolically,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draws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pole-zero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map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using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Control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System Toolbox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500" b="1" spc="-10" dirty="0">
                <a:solidFill>
                  <a:srgbClr val="235279"/>
                </a:solidFill>
                <a:latin typeface="Arial"/>
                <a:cs typeface="Arial"/>
              </a:rPr>
              <a:t>Objectives</a:t>
            </a:r>
            <a:endParaRPr sz="1500" dirty="0">
              <a:latin typeface="Arial"/>
              <a:cs typeface="Arial"/>
            </a:endParaRPr>
          </a:p>
          <a:p>
            <a:pPr marL="86360" lvl="1" indent="-73660">
              <a:lnSpc>
                <a:spcPct val="100000"/>
              </a:lnSpc>
              <a:spcBef>
                <a:spcPts val="710"/>
              </a:spcBef>
              <a:buChar char="•"/>
              <a:tabLst>
                <a:tab pos="86360" algn="l"/>
              </a:tabLst>
            </a:pPr>
            <a:r>
              <a:rPr sz="1200" dirty="0">
                <a:latin typeface="Arial"/>
                <a:cs typeface="Arial"/>
              </a:rPr>
              <a:t>Initialize</a:t>
            </a:r>
            <a:r>
              <a:rPr sz="1200" spc="8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MATLAB</a:t>
            </a:r>
            <a:r>
              <a:rPr sz="1200" spc="8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8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close</a:t>
            </a:r>
            <a:r>
              <a:rPr sz="1200" spc="8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existing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figures.</a:t>
            </a:r>
            <a:endParaRPr sz="1200" dirty="0">
              <a:latin typeface="Arial"/>
              <a:cs typeface="Arial"/>
            </a:endParaRPr>
          </a:p>
          <a:p>
            <a:pPr marL="86360" lvl="1" indent="-73660">
              <a:lnSpc>
                <a:spcPct val="100000"/>
              </a:lnSpc>
              <a:spcBef>
                <a:spcPts val="219"/>
              </a:spcBef>
              <a:buChar char="•"/>
              <a:tabLst>
                <a:tab pos="86360" algn="l"/>
              </a:tabLst>
            </a:pPr>
            <a:r>
              <a:rPr sz="1200" dirty="0">
                <a:latin typeface="Arial"/>
                <a:cs typeface="Arial"/>
              </a:rPr>
              <a:t>Define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symbolic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variables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Z-transform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expression.</a:t>
            </a:r>
            <a:endParaRPr sz="1200" dirty="0">
              <a:latin typeface="Arial"/>
              <a:cs typeface="Arial"/>
            </a:endParaRPr>
          </a:p>
          <a:p>
            <a:pPr marL="86360" lvl="1" indent="-73660">
              <a:lnSpc>
                <a:spcPct val="100000"/>
              </a:lnSpc>
              <a:spcBef>
                <a:spcPts val="219"/>
              </a:spcBef>
              <a:buChar char="•"/>
              <a:tabLst>
                <a:tab pos="86360" algn="l"/>
              </a:tabLst>
            </a:pPr>
            <a:r>
              <a:rPr sz="1200" dirty="0">
                <a:latin typeface="Arial"/>
                <a:cs typeface="Arial"/>
              </a:rPr>
              <a:t>Extract</a:t>
            </a:r>
            <a:r>
              <a:rPr sz="1200" spc="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numerator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denominator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solve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for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zeros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poles.</a:t>
            </a:r>
            <a:endParaRPr sz="1200" dirty="0">
              <a:latin typeface="Arial"/>
              <a:cs typeface="Arial"/>
            </a:endParaRPr>
          </a:p>
          <a:p>
            <a:pPr marL="86360" lvl="1" indent="-73660">
              <a:lnSpc>
                <a:spcPct val="100000"/>
              </a:lnSpc>
              <a:spcBef>
                <a:spcPts val="219"/>
              </a:spcBef>
              <a:buChar char="•"/>
              <a:tabLst>
                <a:tab pos="86360" algn="l"/>
              </a:tabLst>
            </a:pPr>
            <a:r>
              <a:rPr sz="1200" dirty="0">
                <a:latin typeface="Arial"/>
                <a:cs typeface="Arial"/>
              </a:rPr>
              <a:t>Plot</a:t>
            </a:r>
            <a:r>
              <a:rPr sz="1200" spc="6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6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label</a:t>
            </a:r>
            <a:r>
              <a:rPr sz="1200" spc="6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6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pole-zero</a:t>
            </a:r>
            <a:r>
              <a:rPr sz="1200" spc="6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map</a:t>
            </a:r>
            <a:r>
              <a:rPr sz="900" spc="-20" dirty="0"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500" b="1" dirty="0">
                <a:solidFill>
                  <a:srgbClr val="235279"/>
                </a:solidFill>
                <a:latin typeface="Arial"/>
                <a:cs typeface="Arial"/>
              </a:rPr>
              <a:t>Theory</a:t>
            </a:r>
            <a:r>
              <a:rPr sz="1500" b="1" spc="-30" dirty="0">
                <a:solidFill>
                  <a:srgbClr val="235279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235279"/>
                </a:solidFill>
                <a:latin typeface="Arial"/>
                <a:cs typeface="Arial"/>
              </a:rPr>
              <a:t>and</a:t>
            </a:r>
            <a:r>
              <a:rPr sz="1500" b="1" spc="-30" dirty="0">
                <a:solidFill>
                  <a:srgbClr val="235279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235279"/>
                </a:solidFill>
                <a:latin typeface="Arial"/>
                <a:cs typeface="Arial"/>
              </a:rPr>
              <a:t>calculations</a:t>
            </a:r>
            <a:endParaRPr sz="1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lang="en-US" sz="120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expression</a:t>
            </a:r>
            <a:r>
              <a:rPr sz="1200" spc="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can</a:t>
            </a:r>
            <a:r>
              <a:rPr sz="1200" spc="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be</a:t>
            </a:r>
            <a:r>
              <a:rPr sz="1200" spc="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written</a:t>
            </a:r>
            <a:r>
              <a:rPr sz="1200" spc="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as</a:t>
            </a:r>
            <a:r>
              <a:rPr sz="1200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X(z)</a:t>
            </a:r>
            <a:r>
              <a:rPr sz="1200" b="1" spc="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=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z²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/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(z²</a:t>
            </a:r>
            <a:r>
              <a:rPr sz="1200" b="1" spc="40" dirty="0">
                <a:latin typeface="Arial"/>
                <a:cs typeface="Arial"/>
              </a:rPr>
              <a:t> </a:t>
            </a:r>
            <a:r>
              <a:rPr sz="1200" dirty="0">
                <a:latin typeface="Symbol"/>
                <a:cs typeface="Symbol"/>
              </a:rPr>
              <a:t>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Arial"/>
                <a:cs typeface="Arial"/>
              </a:rPr>
              <a:t>5z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+</a:t>
            </a:r>
            <a:r>
              <a:rPr sz="1200" b="1" spc="40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6)</a:t>
            </a:r>
            <a:r>
              <a:rPr sz="1200" spc="-25" dirty="0">
                <a:latin typeface="Arial"/>
                <a:cs typeface="Arial"/>
              </a:rPr>
              <a:t>.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lang="en-US" sz="120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Zeros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are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roots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numerator: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z²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=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0,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so</a:t>
            </a:r>
            <a:r>
              <a:rPr sz="1200" spc="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there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repeated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zero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at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z</a:t>
            </a:r>
            <a:r>
              <a:rPr sz="1200" b="1" spc="5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=</a:t>
            </a:r>
            <a:r>
              <a:rPr sz="1200" b="1" spc="5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0</a:t>
            </a:r>
            <a:r>
              <a:rPr sz="1200" dirty="0">
                <a:latin typeface="Arial"/>
                <a:cs typeface="Arial"/>
              </a:rPr>
              <a:t>.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Poles</a:t>
            </a:r>
            <a:r>
              <a:rPr sz="1200" spc="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are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roots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denominator: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(z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spc="-50" dirty="0">
                <a:latin typeface="Symbol"/>
                <a:cs typeface="Symbol"/>
              </a:rPr>
              <a:t></a:t>
            </a:r>
            <a:endParaRPr sz="1200" dirty="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1200" dirty="0">
                <a:latin typeface="Arial"/>
                <a:cs typeface="Arial"/>
              </a:rPr>
              <a:t>2)(z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dirty="0">
                <a:latin typeface="Symbol"/>
                <a:cs typeface="Symbol"/>
              </a:rPr>
              <a:t>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Arial"/>
                <a:cs typeface="Arial"/>
              </a:rPr>
              <a:t>3)</a:t>
            </a:r>
            <a:r>
              <a:rPr sz="1200" spc="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=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0,</a:t>
            </a:r>
            <a:r>
              <a:rPr sz="1200" spc="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so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poles</a:t>
            </a:r>
            <a:r>
              <a:rPr sz="1200" spc="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are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z</a:t>
            </a:r>
            <a:r>
              <a:rPr sz="1200" b="1" spc="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=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</a:t>
            </a:r>
            <a:r>
              <a:rPr sz="1200" b="1" spc="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z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=</a:t>
            </a:r>
            <a:r>
              <a:rPr sz="1200" b="1" spc="35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3</a:t>
            </a:r>
            <a:r>
              <a:rPr sz="900" spc="-25" dirty="0"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500" b="1" dirty="0">
                <a:solidFill>
                  <a:srgbClr val="235279"/>
                </a:solidFill>
                <a:latin typeface="Arial"/>
                <a:cs typeface="Arial"/>
              </a:rPr>
              <a:t>Expected</a:t>
            </a:r>
            <a:r>
              <a:rPr sz="1500" b="1" spc="-50" dirty="0">
                <a:solidFill>
                  <a:srgbClr val="235279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235279"/>
                </a:solidFill>
                <a:latin typeface="Arial"/>
                <a:cs typeface="Arial"/>
              </a:rPr>
              <a:t>results</a:t>
            </a:r>
            <a:endParaRPr sz="1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200" b="1" dirty="0">
                <a:latin typeface="Arial"/>
                <a:cs typeface="Arial"/>
              </a:rPr>
              <a:t>Zeros:</a:t>
            </a:r>
            <a:r>
              <a:rPr sz="1200" b="1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0,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0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(double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zero</a:t>
            </a:r>
            <a:r>
              <a:rPr sz="1200" spc="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at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origin)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1200" b="1" dirty="0">
                <a:latin typeface="Arial"/>
                <a:cs typeface="Arial"/>
              </a:rPr>
              <a:t>Poles: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2,</a:t>
            </a:r>
            <a:r>
              <a:rPr sz="1200" spc="5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3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1200" dirty="0">
                <a:latin typeface="Arial"/>
                <a:cs typeface="Arial"/>
              </a:rPr>
              <a:t>Software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required: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MATLAB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with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Symbolic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Math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Toolbox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9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Control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System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Toolbox.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520700" y="10307924"/>
            <a:ext cx="2560955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lang="en-US" dirty="0"/>
              <a:t> </a:t>
            </a: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40" dirty="0"/>
              <a:t> </a:t>
            </a: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1213D3-8154-427C-D44A-478C6853779C}"/>
              </a:ext>
            </a:extLst>
          </p:cNvPr>
          <p:cNvSpPr txBox="1"/>
          <p:nvPr/>
        </p:nvSpPr>
        <p:spPr>
          <a:xfrm>
            <a:off x="2779776" y="1505712"/>
            <a:ext cx="2674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Matlab</a:t>
            </a:r>
            <a:r>
              <a:rPr lang="en-US" dirty="0"/>
              <a:t> Program Report 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FE10B5-944D-E3D8-AC08-BA9AEAA8AF2A}"/>
              </a:ext>
            </a:extLst>
          </p:cNvPr>
          <p:cNvSpPr txBox="1"/>
          <p:nvPr/>
        </p:nvSpPr>
        <p:spPr>
          <a:xfrm>
            <a:off x="501650" y="290551"/>
            <a:ext cx="4114800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b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Menlo"/>
              </a:rPr>
            </a:br>
            <a:b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Menlo"/>
              </a:rPr>
            </a:br>
            <a:endParaRPr lang="en-US" sz="1800" b="0" i="0" u="none" strike="noStrike" dirty="0">
              <a:solidFill>
                <a:sysClr val="windowText" lastClr="000000"/>
              </a:solidFill>
              <a:effectLst/>
              <a:latin typeface="Menlo"/>
            </a:endParaRPr>
          </a:p>
          <a:p>
            <a:pPr marL="200025">
              <a:lnSpc>
                <a:spcPct val="100000"/>
              </a:lnSpc>
              <a:buNone/>
            </a:pPr>
            <a:r>
              <a:rPr lang="en-US" sz="1800" b="0" i="0" u="none" strike="noStrike" dirty="0" err="1">
                <a:solidFill>
                  <a:sysClr val="windowText" lastClr="000000"/>
                </a:solidFill>
                <a:effectLst/>
                <a:latin typeface="Menlo"/>
              </a:rPr>
              <a:t>clc</a:t>
            </a:r>
            <a: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Menlo"/>
              </a:rPr>
              <a:t>;</a:t>
            </a:r>
          </a:p>
          <a:p>
            <a:pPr marL="200025">
              <a:lnSpc>
                <a:spcPct val="100000"/>
              </a:lnSpc>
              <a:buNone/>
            </a:pPr>
            <a: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Menlo"/>
              </a:rPr>
              <a:t>clear;</a:t>
            </a:r>
          </a:p>
          <a:p>
            <a:pPr marL="200025">
              <a:lnSpc>
                <a:spcPct val="100000"/>
              </a:lnSpc>
              <a:buNone/>
            </a:pPr>
            <a: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Menlo"/>
              </a:rPr>
              <a:t>close all;</a:t>
            </a:r>
          </a:p>
          <a:p>
            <a:pPr marL="200025">
              <a:lnSpc>
                <a:spcPct val="100000"/>
              </a:lnSpc>
              <a:buNone/>
            </a:pPr>
            <a:r>
              <a:rPr lang="en-US" sz="1800" b="0" i="0" u="none" strike="noStrike" dirty="0" err="1">
                <a:solidFill>
                  <a:sysClr val="windowText" lastClr="000000"/>
                </a:solidFill>
                <a:effectLst/>
                <a:latin typeface="Menlo"/>
              </a:rPr>
              <a:t>syms</a:t>
            </a:r>
            <a: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Menlo"/>
              </a:rPr>
              <a:t> z n</a:t>
            </a:r>
          </a:p>
          <a:p>
            <a:pPr marL="200025">
              <a:lnSpc>
                <a:spcPct val="100000"/>
              </a:lnSpc>
              <a:buNone/>
            </a:pPr>
            <a:endParaRPr lang="en-US" sz="1800" b="0" i="0" u="none" strike="noStrike" dirty="0">
              <a:solidFill>
                <a:sysClr val="windowText" lastClr="000000"/>
              </a:solidFill>
              <a:effectLst/>
              <a:latin typeface="Menlo"/>
            </a:endParaRPr>
          </a:p>
          <a:p>
            <a:pPr marL="200025">
              <a:lnSpc>
                <a:spcPct val="100000"/>
              </a:lnSpc>
              <a:buNone/>
            </a:pPr>
            <a:r>
              <a:rPr lang="en-US" sz="1800" b="0" i="0" u="none" strike="noStrike" dirty="0" err="1">
                <a:solidFill>
                  <a:sysClr val="windowText" lastClr="000000"/>
                </a:solidFill>
                <a:effectLst/>
                <a:latin typeface="Menlo"/>
              </a:rPr>
              <a:t>Xz</a:t>
            </a:r>
            <a: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Menlo"/>
              </a:rPr>
              <a:t> = z^2 / ((z-2)*(z-3));</a:t>
            </a:r>
          </a:p>
          <a:p>
            <a:pPr>
              <a:lnSpc>
                <a:spcPct val="100000"/>
              </a:lnSpc>
              <a:buNone/>
            </a:pPr>
            <a:endParaRPr lang="en-US" sz="1800" b="0" i="0" u="none" strike="noStrike" dirty="0">
              <a:solidFill>
                <a:sysClr val="windowText" lastClr="000000"/>
              </a:solidFill>
              <a:effectLst/>
              <a:latin typeface="Menlo"/>
            </a:endParaRPr>
          </a:p>
          <a:p>
            <a:pPr marL="200025">
              <a:lnSpc>
                <a:spcPct val="100000"/>
              </a:lnSpc>
              <a:buNone/>
            </a:pPr>
            <a:r>
              <a:rPr lang="en-US" sz="1800" b="0" i="0" u="none" strike="noStrike" dirty="0" err="1">
                <a:solidFill>
                  <a:sysClr val="windowText" lastClr="000000"/>
                </a:solidFill>
                <a:effectLst/>
                <a:latin typeface="Menlo"/>
              </a:rPr>
              <a:t>disp</a:t>
            </a:r>
            <a: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Menlo"/>
              </a:rPr>
              <a:t>('Z-Transform X(z) = ');</a:t>
            </a:r>
          </a:p>
          <a:p>
            <a:pPr marL="200025">
              <a:lnSpc>
                <a:spcPct val="100000"/>
              </a:lnSpc>
              <a:buNone/>
            </a:pPr>
            <a: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Menlo"/>
              </a:rPr>
              <a:t>pretty(</a:t>
            </a:r>
            <a:r>
              <a:rPr lang="en-US" sz="1800" b="0" i="0" u="none" strike="noStrike" dirty="0" err="1">
                <a:solidFill>
                  <a:sysClr val="windowText" lastClr="000000"/>
                </a:solidFill>
                <a:effectLst/>
                <a:latin typeface="Menlo"/>
              </a:rPr>
              <a:t>Xz</a:t>
            </a:r>
            <a: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Menlo"/>
              </a:rPr>
              <a:t>);</a:t>
            </a:r>
          </a:p>
          <a:p>
            <a:pPr marL="200025">
              <a:lnSpc>
                <a:spcPct val="100000"/>
              </a:lnSpc>
              <a:buNone/>
            </a:pPr>
            <a: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Menlo"/>
              </a:rPr>
              <a:t>[num, den] = </a:t>
            </a:r>
            <a:r>
              <a:rPr lang="en-US" sz="1800" b="0" i="0" u="none" strike="noStrike" dirty="0" err="1">
                <a:solidFill>
                  <a:sysClr val="windowText" lastClr="000000"/>
                </a:solidFill>
                <a:effectLst/>
                <a:latin typeface="Menlo"/>
              </a:rPr>
              <a:t>numden</a:t>
            </a:r>
            <a: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Menlo"/>
              </a:rPr>
              <a:t>(</a:t>
            </a:r>
            <a:r>
              <a:rPr lang="en-US" sz="1800" b="0" i="0" u="none" strike="noStrike" dirty="0" err="1">
                <a:solidFill>
                  <a:sysClr val="windowText" lastClr="000000"/>
                </a:solidFill>
                <a:effectLst/>
                <a:latin typeface="Menlo"/>
              </a:rPr>
              <a:t>Xz</a:t>
            </a:r>
            <a: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Menlo"/>
              </a:rPr>
              <a:t>);</a:t>
            </a:r>
          </a:p>
          <a:p>
            <a:pPr>
              <a:lnSpc>
                <a:spcPct val="100000"/>
              </a:lnSpc>
              <a:buNone/>
            </a:pPr>
            <a:endParaRPr lang="en-US" sz="1800" b="0" i="0" u="none" strike="noStrike" dirty="0">
              <a:solidFill>
                <a:sysClr val="windowText" lastClr="000000"/>
              </a:solidFill>
              <a:effectLst/>
              <a:latin typeface="Menlo"/>
            </a:endParaRPr>
          </a:p>
          <a:p>
            <a:pPr marL="200025">
              <a:lnSpc>
                <a:spcPct val="100000"/>
              </a:lnSpc>
              <a:buNone/>
            </a:pPr>
            <a:r>
              <a:rPr lang="en-US" sz="1800" b="0" i="0" u="none" strike="noStrike" dirty="0" err="1">
                <a:solidFill>
                  <a:sysClr val="windowText" lastClr="000000"/>
                </a:solidFill>
                <a:effectLst/>
                <a:latin typeface="Menlo"/>
              </a:rPr>
              <a:t>zeros_z</a:t>
            </a:r>
            <a: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Menlo"/>
              </a:rPr>
              <a:t> = solve(num == 0, z);</a:t>
            </a:r>
          </a:p>
          <a:p>
            <a:pPr marL="200025">
              <a:lnSpc>
                <a:spcPct val="100000"/>
              </a:lnSpc>
              <a:buNone/>
            </a:pPr>
            <a:r>
              <a:rPr lang="en-US" sz="1800" b="0" i="0" u="none" strike="noStrike" dirty="0" err="1">
                <a:solidFill>
                  <a:sysClr val="windowText" lastClr="000000"/>
                </a:solidFill>
                <a:effectLst/>
                <a:latin typeface="Menlo"/>
              </a:rPr>
              <a:t>poles_z</a:t>
            </a:r>
            <a: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Menlo"/>
              </a:rPr>
              <a:t> = solve(den == 0, z);</a:t>
            </a:r>
          </a:p>
          <a:p>
            <a:pPr>
              <a:lnSpc>
                <a:spcPct val="100000"/>
              </a:lnSpc>
              <a:buNone/>
            </a:pPr>
            <a:endParaRPr lang="en-US" sz="1800" b="0" i="0" u="none" strike="noStrike" dirty="0">
              <a:solidFill>
                <a:sysClr val="windowText" lastClr="000000"/>
              </a:solidFill>
              <a:effectLst/>
              <a:latin typeface="Menlo"/>
            </a:endParaRPr>
          </a:p>
          <a:p>
            <a:pPr marL="200025">
              <a:lnSpc>
                <a:spcPct val="100000"/>
              </a:lnSpc>
              <a:buNone/>
            </a:pPr>
            <a:r>
              <a:rPr lang="en-US" sz="1800" b="0" i="0" u="none" strike="noStrike" dirty="0" err="1">
                <a:solidFill>
                  <a:sysClr val="windowText" lastClr="000000"/>
                </a:solidFill>
                <a:effectLst/>
                <a:latin typeface="Menlo"/>
              </a:rPr>
              <a:t>disp</a:t>
            </a:r>
            <a: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Menlo"/>
              </a:rPr>
              <a:t>('Zeros are:');</a:t>
            </a:r>
          </a:p>
          <a:p>
            <a:pPr marL="200025">
              <a:lnSpc>
                <a:spcPct val="100000"/>
              </a:lnSpc>
              <a:buNone/>
            </a:pPr>
            <a:r>
              <a:rPr lang="en-US" sz="1800" b="0" i="0" u="none" strike="noStrike" dirty="0" err="1">
                <a:solidFill>
                  <a:sysClr val="windowText" lastClr="000000"/>
                </a:solidFill>
                <a:effectLst/>
                <a:latin typeface="Menlo"/>
              </a:rPr>
              <a:t>disp</a:t>
            </a:r>
            <a: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Menlo"/>
              </a:rPr>
              <a:t>(</a:t>
            </a:r>
            <a:r>
              <a:rPr lang="en-US" sz="1800" b="0" i="0" u="none" strike="noStrike" dirty="0" err="1">
                <a:solidFill>
                  <a:sysClr val="windowText" lastClr="000000"/>
                </a:solidFill>
                <a:effectLst/>
                <a:latin typeface="Menlo"/>
              </a:rPr>
              <a:t>zeros_z</a:t>
            </a:r>
            <a: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Menlo"/>
              </a:rPr>
              <a:t>);</a:t>
            </a:r>
          </a:p>
          <a:p>
            <a:pPr>
              <a:lnSpc>
                <a:spcPct val="100000"/>
              </a:lnSpc>
              <a:buNone/>
            </a:pPr>
            <a:endParaRPr lang="en-US" sz="1800" b="0" i="0" u="none" strike="noStrike" dirty="0">
              <a:solidFill>
                <a:sysClr val="windowText" lastClr="000000"/>
              </a:solidFill>
              <a:effectLst/>
              <a:latin typeface="Menlo"/>
            </a:endParaRPr>
          </a:p>
          <a:p>
            <a:pPr marL="200025">
              <a:lnSpc>
                <a:spcPct val="100000"/>
              </a:lnSpc>
              <a:buNone/>
            </a:pPr>
            <a:r>
              <a:rPr lang="en-US" sz="1800" b="0" i="0" u="none" strike="noStrike" dirty="0" err="1">
                <a:solidFill>
                  <a:sysClr val="windowText" lastClr="000000"/>
                </a:solidFill>
                <a:effectLst/>
                <a:latin typeface="Menlo"/>
              </a:rPr>
              <a:t>disp</a:t>
            </a:r>
            <a: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Menlo"/>
              </a:rPr>
              <a:t>('Poles are:');</a:t>
            </a:r>
          </a:p>
          <a:p>
            <a:pPr marL="200025">
              <a:lnSpc>
                <a:spcPct val="100000"/>
              </a:lnSpc>
              <a:buNone/>
            </a:pPr>
            <a:r>
              <a:rPr lang="en-US" sz="1800" b="0" i="0" u="none" strike="noStrike" dirty="0" err="1">
                <a:solidFill>
                  <a:sysClr val="windowText" lastClr="000000"/>
                </a:solidFill>
                <a:effectLst/>
                <a:latin typeface="Menlo"/>
              </a:rPr>
              <a:t>disp</a:t>
            </a:r>
            <a: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Menlo"/>
              </a:rPr>
              <a:t>(</a:t>
            </a:r>
            <a:r>
              <a:rPr lang="en-US" sz="1800" b="0" i="0" u="none" strike="noStrike" dirty="0" err="1">
                <a:solidFill>
                  <a:sysClr val="windowText" lastClr="000000"/>
                </a:solidFill>
                <a:effectLst/>
                <a:latin typeface="Menlo"/>
              </a:rPr>
              <a:t>poles_z</a:t>
            </a:r>
            <a: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Menlo"/>
              </a:rPr>
              <a:t>);</a:t>
            </a:r>
          </a:p>
          <a:p>
            <a:pPr>
              <a:lnSpc>
                <a:spcPct val="100000"/>
              </a:lnSpc>
              <a:buNone/>
            </a:pPr>
            <a:endParaRPr lang="en-US" sz="1800" b="0" i="0" u="none" strike="noStrike" dirty="0">
              <a:solidFill>
                <a:sysClr val="windowText" lastClr="000000"/>
              </a:solidFill>
              <a:effectLst/>
              <a:latin typeface="Menlo"/>
            </a:endParaRPr>
          </a:p>
          <a:p>
            <a:pPr marL="200025">
              <a:lnSpc>
                <a:spcPct val="100000"/>
              </a:lnSpc>
              <a:buNone/>
            </a:pPr>
            <a: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Menlo"/>
              </a:rPr>
              <a:t>figure;</a:t>
            </a:r>
          </a:p>
          <a:p>
            <a:pPr marL="200025">
              <a:lnSpc>
                <a:spcPct val="100000"/>
              </a:lnSpc>
              <a:buNone/>
            </a:pPr>
            <a:r>
              <a:rPr lang="en-US" sz="1800" b="0" i="0" u="none" strike="noStrike" dirty="0" err="1">
                <a:solidFill>
                  <a:sysClr val="windowText" lastClr="000000"/>
                </a:solidFill>
                <a:effectLst/>
                <a:latin typeface="Menlo"/>
              </a:rPr>
              <a:t>pzmap</a:t>
            </a:r>
            <a: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Menlo"/>
              </a:rPr>
              <a:t>(</a:t>
            </a:r>
            <a:r>
              <a:rPr lang="en-US" sz="1800" b="0" i="0" u="none" strike="noStrike" dirty="0" err="1">
                <a:solidFill>
                  <a:sysClr val="windowText" lastClr="000000"/>
                </a:solidFill>
                <a:effectLst/>
                <a:latin typeface="Menlo"/>
              </a:rPr>
              <a:t>tf</a:t>
            </a:r>
            <a: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Menlo"/>
              </a:rPr>
              <a:t>([1 0 0], [1 -5 6], 1));</a:t>
            </a:r>
          </a:p>
          <a:p>
            <a:pPr>
              <a:lnSpc>
                <a:spcPct val="100000"/>
              </a:lnSpc>
              <a:buNone/>
            </a:pPr>
            <a:endParaRPr lang="en-US" sz="1800" b="0" i="0" u="none" strike="noStrike" dirty="0">
              <a:solidFill>
                <a:sysClr val="windowText" lastClr="000000"/>
              </a:solidFill>
              <a:effectLst/>
              <a:latin typeface="Menlo"/>
            </a:endParaRPr>
          </a:p>
          <a:p>
            <a:pPr marL="200025">
              <a:lnSpc>
                <a:spcPct val="100000"/>
              </a:lnSpc>
              <a:buNone/>
            </a:pPr>
            <a: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Menlo"/>
              </a:rPr>
              <a:t>title('Pole-Zero Plot of X(z)');</a:t>
            </a:r>
          </a:p>
          <a:p>
            <a:pPr marL="200025">
              <a:lnSpc>
                <a:spcPct val="100000"/>
              </a:lnSpc>
              <a:spcAft>
                <a:spcPts val="1050"/>
              </a:spcAft>
              <a:buNone/>
            </a:pPr>
            <a: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Menlo"/>
              </a:rPr>
              <a:t>grid on;</a:t>
            </a:r>
            <a:endParaRPr lang="en-US" sz="1050" b="0" i="0" u="none" strike="noStrike" dirty="0">
              <a:solidFill>
                <a:srgbClr val="212121"/>
              </a:solidFill>
              <a:effectLst/>
              <a:latin typeface="Menl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4F75AC-73F8-5DD9-28A6-807E0580F9A9}"/>
              </a:ext>
            </a:extLst>
          </p:cNvPr>
          <p:cNvSpPr txBox="1"/>
          <p:nvPr/>
        </p:nvSpPr>
        <p:spPr>
          <a:xfrm>
            <a:off x="501650" y="284477"/>
            <a:ext cx="12859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CODE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646546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e image shows a mathematical expression with two variables, z, being multiplied by each other, with the terms (z-2) and (z-3).&#10;&#10;AI-generated content may be incorrect.">
            <a:extLst>
              <a:ext uri="{FF2B5EF4-FFF2-40B4-BE49-F238E27FC236}">
                <a16:creationId xmlns:a16="http://schemas.microsoft.com/office/drawing/2014/main" id="{534F65F9-7762-9A63-07C4-5C51398FB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850" y="1260117"/>
            <a:ext cx="1666875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06AE80-08F7-B6DC-F990-AD3C4096661F}"/>
              </a:ext>
            </a:extLst>
          </p:cNvPr>
          <p:cNvSpPr txBox="1"/>
          <p:nvPr/>
        </p:nvSpPr>
        <p:spPr>
          <a:xfrm>
            <a:off x="349250" y="393700"/>
            <a:ext cx="17604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OUTPUT: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B37720-461A-8FE4-AB48-BB1CDABDEA78}"/>
              </a:ext>
            </a:extLst>
          </p:cNvPr>
          <p:cNvSpPr txBox="1"/>
          <p:nvPr/>
        </p:nvSpPr>
        <p:spPr>
          <a:xfrm>
            <a:off x="592483" y="3060700"/>
            <a:ext cx="37768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 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Zeros are:</a:t>
            </a:r>
          </a:p>
          <a:p>
            <a:pPr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Poles are:</a:t>
            </a:r>
          </a:p>
          <a:p>
            <a:pPr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endParaRPr lang="en-US" dirty="0">
              <a:latin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62C25C-9CBD-AF16-30A6-21916827AE0B}"/>
              </a:ext>
            </a:extLst>
          </p:cNvPr>
          <p:cNvSpPr txBox="1"/>
          <p:nvPr/>
        </p:nvSpPr>
        <p:spPr>
          <a:xfrm>
            <a:off x="120650" y="1532651"/>
            <a:ext cx="3776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Z-Transform X(z) =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16BA80-876D-2FFD-49F0-D33056155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996" y="3702183"/>
            <a:ext cx="542925" cy="8096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80310FE-67D0-DBC0-A0D7-29B3E4ABF7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133" y="5113397"/>
            <a:ext cx="628650" cy="809625"/>
          </a:xfrm>
          <a:prstGeom prst="rect">
            <a:avLst/>
          </a:prstGeom>
        </p:spPr>
      </p:pic>
      <p:pic>
        <p:nvPicPr>
          <p:cNvPr id="15" name="Picture 14" descr="The diagram is a pole-zero plot, which is a graphical representation of the poles and zeros of a complex transfer function, typically used in signal processing and control theory. It shows both the magnitude and phase of the complex function X(z) plotted on a complex plane.&#10;&#10;AI-generated content may be incorrect.">
            <a:extLst>
              <a:ext uri="{FF2B5EF4-FFF2-40B4-BE49-F238E27FC236}">
                <a16:creationId xmlns:a16="http://schemas.microsoft.com/office/drawing/2014/main" id="{B14D7EA9-BDD3-47AD-6158-BE0B5D1C8A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517" y="6184900"/>
            <a:ext cx="6292850" cy="390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638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635000"/>
            <a:ext cx="6151245" cy="701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6365D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16365D"/>
                </a:solidFill>
                <a:latin typeface="Arial"/>
                <a:cs typeface="Arial"/>
              </a:rPr>
              <a:t>Flowchart</a:t>
            </a:r>
            <a:endParaRPr sz="1500" dirty="0">
              <a:latin typeface="Arial"/>
              <a:cs typeface="Arial"/>
            </a:endParaRPr>
          </a:p>
          <a:p>
            <a:pPr marL="12700" marR="5080">
              <a:lnSpc>
                <a:spcPct val="120400"/>
              </a:lnSpc>
              <a:spcBef>
                <a:spcPts val="910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8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flowchart</a:t>
            </a:r>
            <a:r>
              <a:rPr sz="900" spc="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represents</a:t>
            </a:r>
            <a:r>
              <a:rPr sz="900" spc="8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program</a:t>
            </a:r>
            <a:r>
              <a:rPr sz="900" spc="8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sequence.</a:t>
            </a:r>
            <a:r>
              <a:rPr sz="900" spc="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zero</a:t>
            </a:r>
            <a:r>
              <a:rPr sz="900" spc="8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pole</a:t>
            </a:r>
            <a:r>
              <a:rPr sz="900" spc="8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calculations</a:t>
            </a:r>
            <a:r>
              <a:rPr sz="900" spc="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8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performed</a:t>
            </a:r>
            <a:r>
              <a:rPr sz="900" spc="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separate</a:t>
            </a:r>
            <a:r>
              <a:rPr sz="900" spc="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branches,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rejoin</a:t>
            </a:r>
            <a:r>
              <a:rPr sz="900" spc="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before</a:t>
            </a:r>
            <a:r>
              <a:rPr sz="900" spc="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plotting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step.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1972" y="1880285"/>
            <a:ext cx="5216055" cy="683451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Z-Transform</a:t>
            </a:r>
            <a:r>
              <a:rPr spc="-15" dirty="0"/>
              <a:t> </a:t>
            </a:r>
            <a:r>
              <a:rPr dirty="0"/>
              <a:t>and</a:t>
            </a:r>
            <a:r>
              <a:rPr spc="-10" dirty="0"/>
              <a:t> Pole-</a:t>
            </a:r>
            <a:r>
              <a:rPr dirty="0"/>
              <a:t>Zero</a:t>
            </a:r>
            <a:r>
              <a:rPr spc="-15" dirty="0"/>
              <a:t> </a:t>
            </a:r>
            <a:r>
              <a:rPr dirty="0"/>
              <a:t>Analysis</a:t>
            </a:r>
            <a:r>
              <a:rPr spc="-10" dirty="0"/>
              <a:t> </a:t>
            </a:r>
            <a:r>
              <a:rPr dirty="0"/>
              <a:t>—</a:t>
            </a:r>
            <a:r>
              <a:rPr spc="-15" dirty="0"/>
              <a:t> </a:t>
            </a:r>
            <a:r>
              <a:rPr dirty="0"/>
              <a:t>MATLAB</a:t>
            </a:r>
            <a:r>
              <a:rPr spc="-10" dirty="0"/>
              <a:t> Report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40" dirty="0"/>
              <a:t> </a:t>
            </a: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3088" y="698500"/>
            <a:ext cx="6189980" cy="69070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3520" algn="l"/>
              </a:tabLst>
            </a:pPr>
            <a:r>
              <a:rPr sz="1500" b="1" spc="-10" dirty="0">
                <a:solidFill>
                  <a:srgbClr val="16365D"/>
                </a:solidFill>
                <a:latin typeface="Arial"/>
                <a:cs typeface="Arial"/>
              </a:rPr>
              <a:t>Applications</a:t>
            </a:r>
            <a:endParaRPr sz="1500" dirty="0">
              <a:latin typeface="Arial"/>
              <a:cs typeface="Arial"/>
            </a:endParaRPr>
          </a:p>
          <a:p>
            <a:pPr marL="12700" marR="5080">
              <a:lnSpc>
                <a:spcPct val="120400"/>
              </a:lnSpc>
              <a:spcBef>
                <a:spcPts val="910"/>
              </a:spcBef>
            </a:pPr>
            <a:r>
              <a:rPr sz="1200" dirty="0">
                <a:latin typeface="Arial"/>
                <a:cs typeface="Arial"/>
              </a:rPr>
              <a:t>Pole-zero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analysis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widely</a:t>
            </a:r>
            <a:r>
              <a:rPr sz="1200" spc="8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used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digital</a:t>
            </a:r>
            <a:r>
              <a:rPr sz="1200" spc="8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signal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processing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8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discrete-time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system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analysis.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8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positions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poles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8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zeros</a:t>
            </a:r>
            <a:r>
              <a:rPr sz="1200" spc="8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help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engineers</a:t>
            </a:r>
            <a:r>
              <a:rPr sz="1200" spc="8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understand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system</a:t>
            </a:r>
            <a:r>
              <a:rPr sz="1200" spc="8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response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8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assess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stability.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500" b="1" dirty="0">
                <a:solidFill>
                  <a:srgbClr val="235279"/>
                </a:solidFill>
                <a:latin typeface="Arial"/>
                <a:cs typeface="Arial"/>
              </a:rPr>
              <a:t>Real-world </a:t>
            </a:r>
            <a:r>
              <a:rPr sz="1500" b="1" spc="-10" dirty="0">
                <a:solidFill>
                  <a:srgbClr val="235279"/>
                </a:solidFill>
                <a:latin typeface="Arial"/>
                <a:cs typeface="Arial"/>
              </a:rPr>
              <a:t>applications</a:t>
            </a:r>
            <a:endParaRPr sz="1500" dirty="0">
              <a:latin typeface="Arial"/>
              <a:cs typeface="Arial"/>
            </a:endParaRPr>
          </a:p>
          <a:p>
            <a:pPr marL="12700" marR="234315" lvl="1" indent="130810">
              <a:lnSpc>
                <a:spcPct val="120400"/>
              </a:lnSpc>
              <a:spcBef>
                <a:spcPts val="489"/>
              </a:spcBef>
              <a:buAutoNum type="arabicPeriod"/>
              <a:tabLst>
                <a:tab pos="143510" algn="l"/>
              </a:tabLst>
            </a:pPr>
            <a:r>
              <a:rPr sz="1200" b="1" dirty="0">
                <a:latin typeface="Arial"/>
                <a:cs typeface="Arial"/>
              </a:rPr>
              <a:t>Digital</a:t>
            </a:r>
            <a:r>
              <a:rPr sz="1200" b="1" spc="8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filters:</a:t>
            </a:r>
            <a:r>
              <a:rPr sz="1200" b="1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Pole-zero</a:t>
            </a:r>
            <a:r>
              <a:rPr sz="1200" spc="8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locations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help</a:t>
            </a:r>
            <a:r>
              <a:rPr sz="1200" spc="8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design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low-pass,</a:t>
            </a:r>
            <a:r>
              <a:rPr sz="1200" spc="8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high-pass,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band-pass,</a:t>
            </a:r>
            <a:r>
              <a:rPr sz="1200" spc="8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notch</a:t>
            </a:r>
            <a:r>
              <a:rPr sz="1200" spc="8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filters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used</a:t>
            </a:r>
            <a:r>
              <a:rPr sz="1200" spc="8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for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audio </a:t>
            </a:r>
            <a:r>
              <a:rPr sz="1200" dirty="0">
                <a:latin typeface="Arial"/>
                <a:cs typeface="Arial"/>
              </a:rPr>
              <a:t>enhancement</a:t>
            </a:r>
            <a:r>
              <a:rPr sz="1200" spc="9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9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noise</a:t>
            </a:r>
            <a:r>
              <a:rPr sz="1200" spc="9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removal.</a:t>
            </a:r>
            <a:endParaRPr sz="1200" dirty="0">
              <a:latin typeface="Arial"/>
              <a:cs typeface="Arial"/>
            </a:endParaRPr>
          </a:p>
          <a:p>
            <a:pPr marL="12700" marR="175260" lvl="1" indent="130810">
              <a:lnSpc>
                <a:spcPct val="120400"/>
              </a:lnSpc>
              <a:spcBef>
                <a:spcPts val="600"/>
              </a:spcBef>
              <a:buAutoNum type="arabicPeriod"/>
              <a:tabLst>
                <a:tab pos="143510" algn="l"/>
              </a:tabLst>
            </a:pPr>
            <a:r>
              <a:rPr sz="1200" b="1" dirty="0">
                <a:latin typeface="Arial"/>
                <a:cs typeface="Arial"/>
              </a:rPr>
              <a:t>Communication</a:t>
            </a:r>
            <a:r>
              <a:rPr sz="1200" b="1" spc="114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systems:</a:t>
            </a:r>
            <a:r>
              <a:rPr sz="1200" b="1" spc="1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Engineers</a:t>
            </a:r>
            <a:r>
              <a:rPr sz="1200" spc="1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use</a:t>
            </a:r>
            <a:r>
              <a:rPr sz="1200" spc="114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pole-zero</a:t>
            </a:r>
            <a:r>
              <a:rPr sz="1200" spc="1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models</a:t>
            </a:r>
            <a:r>
              <a:rPr sz="1200" spc="1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when</a:t>
            </a:r>
            <a:r>
              <a:rPr sz="1200" spc="114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analyzing</a:t>
            </a:r>
            <a:r>
              <a:rPr sz="1200" spc="1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discrete-time</a:t>
            </a:r>
            <a:r>
              <a:rPr sz="1200" spc="1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channels,</a:t>
            </a:r>
            <a:r>
              <a:rPr sz="1200" spc="114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equalizers,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1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signal-shaping</a:t>
            </a:r>
            <a:r>
              <a:rPr sz="1200" spc="114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systems.</a:t>
            </a:r>
            <a:endParaRPr sz="1200" dirty="0">
              <a:latin typeface="Arial"/>
              <a:cs typeface="Arial"/>
            </a:endParaRPr>
          </a:p>
          <a:p>
            <a:pPr marL="12700" marR="215265" lvl="1" indent="130810">
              <a:lnSpc>
                <a:spcPct val="120400"/>
              </a:lnSpc>
              <a:spcBef>
                <a:spcPts val="595"/>
              </a:spcBef>
              <a:buAutoNum type="arabicPeriod"/>
              <a:tabLst>
                <a:tab pos="143510" algn="l"/>
              </a:tabLst>
            </a:pPr>
            <a:r>
              <a:rPr sz="1200" b="1" dirty="0">
                <a:latin typeface="Arial"/>
                <a:cs typeface="Arial"/>
              </a:rPr>
              <a:t>Audio</a:t>
            </a:r>
            <a:r>
              <a:rPr sz="1200" b="1" spc="10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and</a:t>
            </a:r>
            <a:r>
              <a:rPr sz="1200" b="1" spc="10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speech</a:t>
            </a:r>
            <a:r>
              <a:rPr sz="1200" b="1" spc="10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processing:</a:t>
            </a:r>
            <a:r>
              <a:rPr sz="1200" b="1" spc="10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Rational</a:t>
            </a:r>
            <a:r>
              <a:rPr sz="1200" spc="10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Z-transform</a:t>
            </a:r>
            <a:r>
              <a:rPr sz="1200" spc="10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models</a:t>
            </a:r>
            <a:r>
              <a:rPr sz="1200" spc="10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support</a:t>
            </a:r>
            <a:r>
              <a:rPr sz="1200" spc="10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speech</a:t>
            </a:r>
            <a:r>
              <a:rPr sz="1200" spc="10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analysis,</a:t>
            </a:r>
            <a:r>
              <a:rPr sz="1200" spc="10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audio</a:t>
            </a:r>
            <a:r>
              <a:rPr sz="1200" spc="10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equalization,</a:t>
            </a:r>
            <a:r>
              <a:rPr sz="1200" spc="10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and </a:t>
            </a:r>
            <a:r>
              <a:rPr sz="1200" dirty="0">
                <a:latin typeface="Arial"/>
                <a:cs typeface="Arial"/>
              </a:rPr>
              <a:t>resonance</a:t>
            </a:r>
            <a:r>
              <a:rPr sz="1200" spc="13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modeling.</a:t>
            </a:r>
            <a:endParaRPr sz="1200" dirty="0">
              <a:latin typeface="Arial"/>
              <a:cs typeface="Arial"/>
            </a:endParaRPr>
          </a:p>
          <a:p>
            <a:pPr marL="12700" marR="260350" lvl="1" indent="130810">
              <a:lnSpc>
                <a:spcPct val="120400"/>
              </a:lnSpc>
              <a:spcBef>
                <a:spcPts val="600"/>
              </a:spcBef>
              <a:buAutoNum type="arabicPeriod"/>
              <a:tabLst>
                <a:tab pos="143510" algn="l"/>
              </a:tabLst>
            </a:pPr>
            <a:r>
              <a:rPr sz="1200" b="1" dirty="0">
                <a:latin typeface="Arial"/>
                <a:cs typeface="Arial"/>
              </a:rPr>
              <a:t>Digital</a:t>
            </a:r>
            <a:r>
              <a:rPr sz="1200" b="1" spc="8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control</a:t>
            </a:r>
            <a:r>
              <a:rPr sz="1200" b="1" spc="9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systems:</a:t>
            </a:r>
            <a:r>
              <a:rPr sz="1200" b="1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Pole</a:t>
            </a:r>
            <a:r>
              <a:rPr sz="1200" spc="8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locations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help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evaluate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stability</a:t>
            </a:r>
            <a:r>
              <a:rPr sz="1200" spc="8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transient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response</a:t>
            </a:r>
            <a:r>
              <a:rPr sz="1200" spc="8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digital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controllers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and </a:t>
            </a:r>
            <a:r>
              <a:rPr sz="1200" dirty="0">
                <a:latin typeface="Arial"/>
                <a:cs typeface="Arial"/>
              </a:rPr>
              <a:t>embedded</a:t>
            </a:r>
            <a:r>
              <a:rPr sz="1200" spc="13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systems.</a:t>
            </a:r>
            <a:endParaRPr sz="1200" dirty="0">
              <a:latin typeface="Arial"/>
              <a:cs typeface="Arial"/>
            </a:endParaRPr>
          </a:p>
          <a:p>
            <a:pPr marL="12700" marR="5080" lvl="1" indent="130810">
              <a:lnSpc>
                <a:spcPct val="120400"/>
              </a:lnSpc>
              <a:spcBef>
                <a:spcPts val="600"/>
              </a:spcBef>
              <a:buAutoNum type="arabicPeriod"/>
              <a:tabLst>
                <a:tab pos="143510" algn="l"/>
              </a:tabLst>
            </a:pPr>
            <a:r>
              <a:rPr sz="1200" b="1" dirty="0">
                <a:latin typeface="Arial"/>
                <a:cs typeface="Arial"/>
              </a:rPr>
              <a:t>Biomedical</a:t>
            </a:r>
            <a:r>
              <a:rPr sz="1200" b="1" spc="7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signal</a:t>
            </a:r>
            <a:r>
              <a:rPr sz="1200" b="1" spc="8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processing:</a:t>
            </a:r>
            <a:r>
              <a:rPr sz="1200" b="1" spc="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Digital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filters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can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reduce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unwanted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noise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or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baseline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drift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ECG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other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sensor measurements.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500" b="1" dirty="0">
                <a:solidFill>
                  <a:srgbClr val="235279"/>
                </a:solidFill>
                <a:latin typeface="Arial"/>
                <a:cs typeface="Arial"/>
              </a:rPr>
              <a:t>Interpretation of this </a:t>
            </a:r>
            <a:r>
              <a:rPr sz="1500" b="1" spc="-10" dirty="0">
                <a:solidFill>
                  <a:srgbClr val="235279"/>
                </a:solidFill>
                <a:latin typeface="Arial"/>
                <a:cs typeface="Arial"/>
              </a:rPr>
              <a:t>example</a:t>
            </a:r>
            <a:endParaRPr sz="1500" dirty="0">
              <a:latin typeface="Arial"/>
              <a:cs typeface="Arial"/>
            </a:endParaRPr>
          </a:p>
          <a:p>
            <a:pPr marL="12700" marR="53340">
              <a:lnSpc>
                <a:spcPct val="120400"/>
              </a:lnSpc>
              <a:spcBef>
                <a:spcPts val="490"/>
              </a:spcBef>
            </a:pPr>
            <a:r>
              <a:rPr sz="1200" dirty="0">
                <a:latin typeface="Arial"/>
                <a:cs typeface="Arial"/>
              </a:rPr>
              <a:t>The</a:t>
            </a:r>
            <a:r>
              <a:rPr sz="1200" spc="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expression</a:t>
            </a:r>
            <a:r>
              <a:rPr sz="1200" spc="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has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repeated</a:t>
            </a:r>
            <a:r>
              <a:rPr sz="1200" spc="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zero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at</a:t>
            </a:r>
            <a:r>
              <a:rPr sz="1200" spc="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z</a:t>
            </a:r>
            <a:r>
              <a:rPr sz="1200" spc="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=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0</a:t>
            </a:r>
            <a:r>
              <a:rPr sz="1200" spc="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poles</a:t>
            </a:r>
            <a:r>
              <a:rPr sz="1200" spc="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at</a:t>
            </a:r>
            <a:r>
              <a:rPr sz="1200" spc="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z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=</a:t>
            </a:r>
            <a:r>
              <a:rPr sz="1200" spc="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2</a:t>
            </a:r>
            <a:r>
              <a:rPr sz="1200" spc="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z</a:t>
            </a:r>
            <a:r>
              <a:rPr sz="1200" spc="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=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3.</a:t>
            </a:r>
            <a:r>
              <a:rPr sz="1200" spc="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Both</a:t>
            </a:r>
            <a:r>
              <a:rPr sz="1200" spc="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poles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are</a:t>
            </a:r>
            <a:r>
              <a:rPr sz="1200" spc="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outside</a:t>
            </a:r>
            <a:r>
              <a:rPr sz="1200" spc="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unit</a:t>
            </a:r>
            <a:r>
              <a:rPr sz="1200" spc="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circle.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For</a:t>
            </a:r>
            <a:r>
              <a:rPr sz="1200" spc="4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a</a:t>
            </a:r>
            <a:r>
              <a:rPr sz="1200" dirty="0">
                <a:latin typeface="Arial"/>
                <a:cs typeface="Arial"/>
              </a:rPr>
              <a:t> causal</a:t>
            </a:r>
            <a:r>
              <a:rPr sz="1200" spc="8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discrete-time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system,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poles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outside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8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unit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circle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indicate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instability.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complete</a:t>
            </a:r>
            <a:r>
              <a:rPr sz="1200" spc="8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stability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conclusion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also </a:t>
            </a:r>
            <a:r>
              <a:rPr sz="1200" dirty="0">
                <a:latin typeface="Arial"/>
                <a:cs typeface="Arial"/>
              </a:rPr>
              <a:t>depends</a:t>
            </a:r>
            <a:r>
              <a:rPr sz="1200" spc="6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on</a:t>
            </a:r>
            <a:r>
              <a:rPr sz="1200" spc="6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region</a:t>
            </a:r>
            <a:r>
              <a:rPr sz="1200" spc="6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6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convergence</a:t>
            </a:r>
            <a:r>
              <a:rPr sz="1200" spc="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(ROC),</a:t>
            </a:r>
            <a:r>
              <a:rPr sz="1200" spc="6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which</a:t>
            </a:r>
            <a:r>
              <a:rPr sz="1200" spc="6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not</a:t>
            </a:r>
            <a:r>
              <a:rPr sz="1200" spc="6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specified</a:t>
            </a:r>
            <a:r>
              <a:rPr sz="1200" spc="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</a:t>
            </a:r>
            <a:r>
              <a:rPr sz="1200" spc="6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this</a:t>
            </a:r>
            <a:r>
              <a:rPr sz="1200" spc="6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code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500" b="1" spc="-10" dirty="0">
                <a:solidFill>
                  <a:srgbClr val="235279"/>
                </a:solidFill>
                <a:latin typeface="Arial"/>
                <a:cs typeface="Arial"/>
              </a:rPr>
              <a:t>Conclusion</a:t>
            </a:r>
            <a:endParaRPr sz="1500" dirty="0">
              <a:latin typeface="Arial"/>
              <a:cs typeface="Arial"/>
            </a:endParaRPr>
          </a:p>
          <a:p>
            <a:pPr marL="12700" marR="405130">
              <a:lnSpc>
                <a:spcPct val="120400"/>
              </a:lnSpc>
              <a:spcBef>
                <a:spcPts val="490"/>
              </a:spcBef>
            </a:pPr>
            <a:r>
              <a:rPr sz="1200" dirty="0">
                <a:latin typeface="Arial"/>
                <a:cs typeface="Arial"/>
              </a:rPr>
              <a:t>The</a:t>
            </a:r>
            <a:r>
              <a:rPr sz="1200" spc="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MATLAB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program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calculates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zeros</a:t>
            </a:r>
            <a:r>
              <a:rPr sz="1200" spc="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poles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given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Z-transform</a:t>
            </a:r>
            <a:r>
              <a:rPr sz="1200" spc="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displays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their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locations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</a:t>
            </a:r>
            <a:r>
              <a:rPr sz="1200" spc="7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a</a:t>
            </a:r>
            <a:r>
              <a:rPr sz="1200" dirty="0">
                <a:latin typeface="Arial"/>
                <a:cs typeface="Arial"/>
              </a:rPr>
              <a:t> pole-zero</a:t>
            </a:r>
            <a:r>
              <a:rPr sz="1200" spc="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plot.</a:t>
            </a:r>
            <a:r>
              <a:rPr sz="1200" spc="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This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provides</a:t>
            </a:r>
            <a:r>
              <a:rPr sz="1200" spc="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visual</a:t>
            </a:r>
            <a:r>
              <a:rPr sz="1200" spc="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way</a:t>
            </a:r>
            <a:r>
              <a:rPr sz="1200" spc="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understand</a:t>
            </a:r>
            <a:r>
              <a:rPr sz="1200" spc="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system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characteristics</a:t>
            </a:r>
            <a:r>
              <a:rPr sz="1200" spc="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useful</a:t>
            </a:r>
            <a:r>
              <a:rPr sz="1200" spc="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filter</a:t>
            </a:r>
            <a:r>
              <a:rPr sz="1200" spc="7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design, </a:t>
            </a:r>
            <a:r>
              <a:rPr sz="1200" dirty="0">
                <a:latin typeface="Arial"/>
                <a:cs typeface="Arial"/>
              </a:rPr>
              <a:t>communication,</a:t>
            </a:r>
            <a:r>
              <a:rPr sz="1200" spc="114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biomedical</a:t>
            </a:r>
            <a:r>
              <a:rPr sz="1200" spc="1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processing,</a:t>
            </a:r>
            <a:r>
              <a:rPr sz="1200" spc="1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1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digital</a:t>
            </a:r>
            <a:r>
              <a:rPr sz="1200" spc="1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control.</a:t>
            </a:r>
            <a:endParaRPr lang="en-US" sz="1200" spc="-10" dirty="0">
              <a:latin typeface="Arial"/>
              <a:cs typeface="Arial"/>
            </a:endParaRPr>
          </a:p>
          <a:p>
            <a:pPr marL="12700" marR="237490">
              <a:lnSpc>
                <a:spcPct val="120400"/>
              </a:lnSpc>
              <a:spcBef>
                <a:spcPts val="600"/>
              </a:spcBef>
            </a:pPr>
            <a:r>
              <a:rPr lang="en-US" sz="900" dirty="0">
                <a:latin typeface="Arial"/>
                <a:cs typeface="Arial"/>
              </a:rPr>
              <a:t> 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Z-Transform</a:t>
            </a:r>
            <a:r>
              <a:rPr spc="-15" dirty="0"/>
              <a:t> </a:t>
            </a:r>
            <a:r>
              <a:rPr dirty="0"/>
              <a:t>and</a:t>
            </a:r>
            <a:r>
              <a:rPr spc="-10" dirty="0"/>
              <a:t> Pole-</a:t>
            </a:r>
            <a:r>
              <a:rPr dirty="0"/>
              <a:t>Zero</a:t>
            </a:r>
            <a:r>
              <a:rPr spc="-15" dirty="0"/>
              <a:t> </a:t>
            </a:r>
            <a:r>
              <a:rPr dirty="0"/>
              <a:t>Analysis</a:t>
            </a:r>
            <a:r>
              <a:rPr spc="-10" dirty="0"/>
              <a:t> </a:t>
            </a:r>
            <a:r>
              <a:rPr dirty="0"/>
              <a:t>—</a:t>
            </a:r>
            <a:r>
              <a:rPr spc="-15" dirty="0"/>
              <a:t> </a:t>
            </a:r>
            <a:r>
              <a:rPr dirty="0"/>
              <a:t>MATLAB</a:t>
            </a:r>
            <a:r>
              <a:rPr spc="-10" dirty="0"/>
              <a:t> Report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40" dirty="0"/>
              <a:t> </a:t>
            </a: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641</Words>
  <Application>Microsoft Office PowerPoint</Application>
  <PresentationFormat>Custom</PresentationFormat>
  <Paragraphs>76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Courier New</vt:lpstr>
      <vt:lpstr>Menlo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Srujal Patel</dc:creator>
  <cp:lastModifiedBy>Srujal Patel</cp:lastModifiedBy>
  <cp:revision>1</cp:revision>
  <dcterms:created xsi:type="dcterms:W3CDTF">2026-10-24T15:25:38Z</dcterms:created>
  <dcterms:modified xsi:type="dcterms:W3CDTF">2026-10-25T12:24:45Z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2026-10-24T00:00:00Z</vt:filetime>
  </property>
  <property fmtid="{D5CDD505-2E9C-101B-9397-08002B2CF9AE}" pid="4" name="LastSaved">
    <vt:filetime>2026-10-24T00:00:00Z</vt:filetime>
  </property>
</Properties>
</file>